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[Your Name], and I am completing the Data Analytics track under the AnalystLab Africa Experience Lab. My project is HealthConnect, which focuses on improving patient appointment attendance and healthcare support using data and AI.
HealthConnect Clinic is a fictional healthcare provider that wants to reduce missed appointments, improve attendance, make better use of appointment slots, and provide better administrative support to patients.
My role in the project was to analyse appointment data, identify important attendance patterns, develop and validate key performance indicators, and build a Power BI dashboard that can support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analysis, I worked with 5,000 appointment records. I used Microsoft Power BI as my main analytical and visualisation tool, Power Query for data preparation and transformation, and DAX for calculating measures and KPIs.
My dashboard contains two main pages: Overview and Attendance Drivers. I also included Year-Month and Appointment Type slicers so that users can explore changes in attendance behaviour across different periods and appointment categories.
The main factors I examined were previous no-show history, booking lead time, reminder status, appointment time, and appointment type. The aim was not only to calculate overall attendance figures, but also to identify patterns that could help HealthConnect understand where no-show risk may be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validated KPIs from my analysis are a no-show rate of 51.2 percent, a cancellation rate of 5.3 percent, reminder coverage of 72.7 percent, and a repeat no-show rate of 57.8 percent.
The no-show rate is particularly important because more than half of the appointments in the analysed dataset were classified as no-shows.
The repeat no-show rate also suggests that previous attendance behaviour is an important factor to monitor. Reminder coverage of 72.7 percent shows that there is still a proportion of appointments that are not covered by the reminder process.
These KPIs provide HealthConnect with a simple way of monitoring overall appointment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main findings from the project is that missed appointments should not be treated as one general problem.
Previous no-show history emerged as an important analytical factor, with the repeat no-show rate reaching 57.8 percent. I also examined booking lead time, reminder status, appointment time, and appointment type as possible attendance drivers.
The dashboard allows these results to be explored using the Year-Month and Appointment Type slicers. This means that decision-makers can move beyond the overall no-show rate and investigate whether attendance behaviour differs across periods or appointment categories.
The purpose of the dashboard is therefore to support more targeted and evidence-based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Week 7, I focused on testing and refining the dashboard.
I confirmed that the four main KPI values remained consistent. I then tested the Year-Month slicer using April and the Appointment Type slicer using General Consultation. In both tests, the dashboard visuals updated correctly, and the original KPI values returned when the filters were cleared.
I also refined the dashboard by adding a Validated Key Findings section to make the most important results easier to understand. After making that change, I re-tested both slicers, and both tests passed.
Based on the final findings, my recommendations are to prioritise patients with previous no-show history for additional follow-up, improve reminder coverage, monitor appointments with longer booking lead times, use appointment-type segmentation to identify higher-risk areas, and continue using the dashboard to monitor attendance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Analytics component is intended to connect with other parts of the HealthConnect solution.
The most relevant connection is with Data Science. My validated analytical findings, including repeat no-show behaviour, reminder coverage and other attendance patterns, can support interpretation of the predictive model and help determine whether model results are consistent with the patterns identified in the dashboard.
At the time of preparing this presentation, formal cross-track integration evidence is still an outstanding requirement, so I am not presenting it as completed work.
There are also analytical limitations. My work is mainly descriptive, so it identifies relationships and patterns but does not prove that one factor causes another. For example, reminder coverage should not automatically be interpreted as proof that reminders caused improved attendance.
The wider HealthConnect solution can combine analytics, predictive modelling, machine learning engineering, generative AI and project management to provide a more complete approach to appointment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business value of my contribution is that it gives HealthConnect a tested and understandable view of appointment attendance performance.
The dashboard can help identify areas requiring attention, monitor repeat no-show behaviour, track reminder coverage, and examine attendance patterns by month and appointment type.
My main takeaway from this project is that data analytics is not only about creating charts or calculating KPIs. The results also need to be tested, interpreted, communicated clearly and translated into actions that support business decisions.
If I were to continue improving this project, I would complete deeper cross-track validation with Data Science, investigate the attendance factors further, and evaluate how the dashboard findings compare with predictive model results.
Overall, my contribution provides HealthConnect with a validated analytical foundation for understanding missed appointments and supporting better attendance-related decisions.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6B63"/>
          </a:solidFill>
          <a:ln w="12700">
            <a:solidFill>
              <a:srgbClr val="0E6B63"/>
            </a:solidFill>
            <a:prstDash val="solid"/>
          </a:ln>
        </p:spPr>
      </p:sp>
      <p:sp>
        <p:nvSpPr>
          <p:cNvPr id="3" name="Shape 1"/>
          <p:cNvSpPr/>
          <p:nvPr/>
        </p:nvSpPr>
        <p:spPr>
          <a:xfrm>
            <a:off x="164592" y="0"/>
            <a:ext cx="54864" cy="6858000"/>
          </a:xfrm>
          <a:prstGeom prst="rect">
            <a:avLst/>
          </a:prstGeom>
          <a:solidFill>
            <a:srgbClr val="28A745"/>
          </a:solidFill>
          <a:ln w="12700">
            <a:solidFill>
              <a:srgbClr val="28A745"/>
            </a:solidFill>
            <a:prstDash val="solid"/>
          </a:ln>
        </p:spPr>
      </p:sp>
      <p:sp>
        <p:nvSpPr>
          <p:cNvPr id="4" name="Text 2"/>
          <p:cNvSpPr/>
          <p:nvPr/>
        </p:nvSpPr>
        <p:spPr>
          <a:xfrm>
            <a:off x="502920" y="6419088"/>
            <a:ext cx="5303520" cy="219456"/>
          </a:xfrm>
          <a:prstGeom prst="rect">
            <a:avLst/>
          </a:prstGeom>
          <a:noFill/>
        </p:spPr>
        <p:txBody>
          <a:bodyPr wrap="square" lIns="0" tIns="0" rIns="0" bIns="0" rtlCol="0" anchor="ctr"/>
          <a:lstStyle/>
          <a:p>
            <a:pPr marL="0" indent="0">
              <a:buNone/>
            </a:pPr>
            <a:r>
              <a:rPr lang="en-US" sz="850" dirty="0">
                <a:solidFill>
                  <a:srgbClr val="65746F"/>
                </a:solidFill>
                <a:latin typeface="Aptos" pitchFamily="34" charset="0"/>
                <a:ea typeface="Aptos" pitchFamily="34" charset="-122"/>
                <a:cs typeface="Aptos" pitchFamily="34" charset="-120"/>
              </a:rPr>
              <a:t>HealthConnect • Data Analytics • Week 8</a:t>
            </a:r>
            <a:endParaRPr lang="en-US" sz="850" dirty="0"/>
          </a:p>
        </p:txBody>
      </p:sp>
      <p:sp>
        <p:nvSpPr>
          <p:cNvPr id="5" name="Text 3"/>
          <p:cNvSpPr/>
          <p:nvPr/>
        </p:nvSpPr>
        <p:spPr>
          <a:xfrm>
            <a:off x="11201400" y="6419088"/>
            <a:ext cx="457200" cy="219456"/>
          </a:xfrm>
          <a:prstGeom prst="rect">
            <a:avLst/>
          </a:prstGeom>
          <a:noFill/>
        </p:spPr>
        <p:txBody>
          <a:bodyPr wrap="square" lIns="0" tIns="0" rIns="0" bIns="0" rtlCol="0" anchor="ctr"/>
          <a:lstStyle/>
          <a:p>
            <a:pPr marL="0" indent="0" algn="r">
              <a:buNone/>
            </a:pPr>
            <a:r>
              <a:rPr lang="en-US" sz="850" dirty="0">
                <a:solidFill>
                  <a:srgbClr val="65746F"/>
                </a:solidFill>
                <a:latin typeface="Aptos" pitchFamily="34" charset="0"/>
                <a:ea typeface="Aptos" pitchFamily="34" charset="-122"/>
                <a:cs typeface="Aptos" pitchFamily="34" charset="-120"/>
              </a:rPr>
              <a:t>1/7</a:t>
            </a:r>
            <a:endParaRPr lang="en-US" sz="850" dirty="0"/>
          </a:p>
        </p:txBody>
      </p:sp>
      <p:sp>
        <p:nvSpPr>
          <p:cNvPr id="6" name="Text 4"/>
          <p:cNvSpPr/>
          <p:nvPr/>
        </p:nvSpPr>
        <p:spPr>
          <a:xfrm>
            <a:off x="685800" y="868680"/>
            <a:ext cx="6858000" cy="1188720"/>
          </a:xfrm>
          <a:prstGeom prst="rect">
            <a:avLst/>
          </a:prstGeom>
          <a:noFill/>
        </p:spPr>
        <p:txBody>
          <a:bodyPr wrap="square" lIns="0" tIns="0" rIns="0" bIns="0" rtlCol="0" anchor="ctr">
            <a:normAutofit/>
          </a:bodyPr>
          <a:lstStyle/>
          <a:p>
            <a:pPr marL="0" indent="0">
              <a:buNone/>
            </a:pPr>
            <a:r>
              <a:rPr lang="en-US" sz="3700" b="1" dirty="0">
                <a:solidFill>
                  <a:srgbClr val="173B35"/>
                </a:solidFill>
                <a:latin typeface="Aptos Display" pitchFamily="34" charset="0"/>
                <a:ea typeface="Aptos Display" pitchFamily="34" charset="-122"/>
                <a:cs typeface="Aptos Display" pitchFamily="34" charset="-120"/>
              </a:rPr>
              <a:t>HealthConnect</a:t>
            </a:r>
            <a:endParaRPr lang="en-US" sz="3700" dirty="0"/>
          </a:p>
          <a:p>
            <a:pPr marL="0" indent="0">
              <a:buNone/>
            </a:pPr>
            <a:r>
              <a:rPr lang="en-US" sz="3700" b="1" dirty="0">
                <a:solidFill>
                  <a:srgbClr val="173B35"/>
                </a:solidFill>
                <a:latin typeface="Aptos Display" pitchFamily="34" charset="0"/>
                <a:ea typeface="Aptos Display" pitchFamily="34" charset="-122"/>
                <a:cs typeface="Aptos Display" pitchFamily="34" charset="-120"/>
              </a:rPr>
              <a:t>Appointment Analytics</a:t>
            </a:r>
            <a:endParaRPr lang="en-US" sz="3700" dirty="0"/>
          </a:p>
        </p:txBody>
      </p:sp>
      <p:sp>
        <p:nvSpPr>
          <p:cNvPr id="7" name="Text 5"/>
          <p:cNvSpPr/>
          <p:nvPr/>
        </p:nvSpPr>
        <p:spPr>
          <a:xfrm>
            <a:off x="713232" y="2194560"/>
            <a:ext cx="6217920" cy="320040"/>
          </a:xfrm>
          <a:prstGeom prst="rect">
            <a:avLst/>
          </a:prstGeom>
          <a:noFill/>
        </p:spPr>
        <p:txBody>
          <a:bodyPr wrap="square" lIns="0" tIns="0" rIns="0" bIns="0" rtlCol="0" anchor="ctr"/>
          <a:lstStyle/>
          <a:p>
            <a:pPr marL="0" indent="0">
              <a:buNone/>
            </a:pPr>
            <a:r>
              <a:rPr lang="en-US" sz="1500" b="1" dirty="0">
                <a:solidFill>
                  <a:srgbClr val="0E6B63"/>
                </a:solidFill>
              </a:rPr>
              <a:t>Week 8 Video Presentation • Data Analytics Track</a:t>
            </a:r>
            <a:endParaRPr lang="en-US" sz="1500" dirty="0"/>
          </a:p>
        </p:txBody>
      </p:sp>
      <p:sp>
        <p:nvSpPr>
          <p:cNvPr id="8" name="Text 6"/>
          <p:cNvSpPr/>
          <p:nvPr/>
        </p:nvSpPr>
        <p:spPr>
          <a:xfrm>
            <a:off x="731520" y="2743200"/>
            <a:ext cx="5212080" cy="914400"/>
          </a:xfrm>
          <a:prstGeom prst="rect">
            <a:avLst/>
          </a:prstGeom>
          <a:noFill/>
        </p:spPr>
        <p:txBody>
          <a:bodyPr wrap="square" lIns="254" tIns="254" rIns="254" bIns="254" rtlCol="0" anchor="ctr">
            <a:normAutofit/>
          </a:bodyPr>
          <a:lstStyle/>
          <a:p>
            <a:pPr marL="0" indent="0">
              <a:buNone/>
            </a:pPr>
            <a:r>
              <a:rPr lang="en-US" sz="2000" dirty="0">
                <a:solidFill>
                  <a:srgbClr val="173B35"/>
                </a:solidFill>
              </a:rPr>
              <a:t>Improving patient appointment attendance and healthcare support using data and AI.</a:t>
            </a:r>
            <a:endParaRPr lang="en-US" sz="2000" dirty="0"/>
          </a:p>
        </p:txBody>
      </p:sp>
      <p:sp>
        <p:nvSpPr>
          <p:cNvPr id="9" name="Shape 7"/>
          <p:cNvSpPr/>
          <p:nvPr/>
        </p:nvSpPr>
        <p:spPr>
          <a:xfrm>
            <a:off x="7589520" y="731520"/>
            <a:ext cx="3474720" cy="3474720"/>
          </a:xfrm>
          <a:prstGeom prst="arc">
            <a:avLst/>
          </a:prstGeom>
          <a:noFill/>
          <a:ln w="203200">
            <a:solidFill>
              <a:srgbClr val="28A745"/>
            </a:solidFill>
            <a:prstDash val="solid"/>
            <a:headEnd type="none"/>
            <a:tailEnd type="none"/>
          </a:ln>
        </p:spPr>
      </p:sp>
      <p:sp>
        <p:nvSpPr>
          <p:cNvPr id="10" name="Shape 8"/>
          <p:cNvSpPr/>
          <p:nvPr/>
        </p:nvSpPr>
        <p:spPr>
          <a:xfrm>
            <a:off x="8092440" y="1234440"/>
            <a:ext cx="2468880" cy="2468880"/>
          </a:xfrm>
          <a:prstGeom prst="arc">
            <a:avLst/>
          </a:prstGeom>
          <a:noFill/>
          <a:ln w="152400">
            <a:solidFill>
              <a:srgbClr val="0E6B63"/>
            </a:solidFill>
            <a:prstDash val="solid"/>
          </a:ln>
        </p:spPr>
      </p:sp>
      <p:sp>
        <p:nvSpPr>
          <p:cNvPr id="11" name="Text 9"/>
          <p:cNvSpPr/>
          <p:nvPr/>
        </p:nvSpPr>
        <p:spPr>
          <a:xfrm>
            <a:off x="8183880" y="1901952"/>
            <a:ext cx="2286000" cy="411480"/>
          </a:xfrm>
          <a:prstGeom prst="rect">
            <a:avLst/>
          </a:prstGeom>
          <a:noFill/>
        </p:spPr>
        <p:txBody>
          <a:bodyPr wrap="square" lIns="0" tIns="0" rIns="0" bIns="0" rtlCol="0" anchor="ctr"/>
          <a:lstStyle/>
          <a:p>
            <a:pPr marL="0" indent="0" algn="ctr">
              <a:buNone/>
            </a:pPr>
            <a:r>
              <a:rPr lang="en-US" sz="3300" b="1" dirty="0">
                <a:solidFill>
                  <a:srgbClr val="0E6B63"/>
                </a:solidFill>
              </a:rPr>
              <a:t>51.2%</a:t>
            </a:r>
            <a:endParaRPr lang="en-US" sz="3300" dirty="0"/>
          </a:p>
        </p:txBody>
      </p:sp>
      <p:sp>
        <p:nvSpPr>
          <p:cNvPr id="12" name="Text 10"/>
          <p:cNvSpPr/>
          <p:nvPr/>
        </p:nvSpPr>
        <p:spPr>
          <a:xfrm>
            <a:off x="8183880" y="2395728"/>
            <a:ext cx="2286000" cy="228600"/>
          </a:xfrm>
          <a:prstGeom prst="rect">
            <a:avLst/>
          </a:prstGeom>
          <a:noFill/>
        </p:spPr>
        <p:txBody>
          <a:bodyPr wrap="square" lIns="0" tIns="0" rIns="0" bIns="0" rtlCol="0" anchor="ctr"/>
          <a:lstStyle/>
          <a:p>
            <a:pPr marL="0" indent="0" algn="ctr">
              <a:buNone/>
            </a:pPr>
            <a:r>
              <a:rPr lang="en-US" sz="1200" dirty="0">
                <a:solidFill>
                  <a:srgbClr val="65746F"/>
                </a:solidFill>
              </a:rPr>
              <a:t>final no-show rate</a:t>
            </a:r>
            <a:endParaRPr lang="en-US" sz="1200" dirty="0"/>
          </a:p>
        </p:txBody>
      </p:sp>
      <p:sp>
        <p:nvSpPr>
          <p:cNvPr id="13" name="Text 11"/>
          <p:cNvSpPr/>
          <p:nvPr/>
        </p:nvSpPr>
        <p:spPr>
          <a:xfrm>
            <a:off x="713232" y="5074920"/>
            <a:ext cx="2926080" cy="274320"/>
          </a:xfrm>
          <a:prstGeom prst="rect">
            <a:avLst/>
          </a:prstGeom>
          <a:noFill/>
        </p:spPr>
        <p:txBody>
          <a:bodyPr wrap="square" lIns="0" tIns="0" rIns="0" bIns="0" rtlCol="0" anchor="ctr"/>
          <a:lstStyle/>
          <a:p>
            <a:pPr marL="0" indent="0">
              <a:buNone/>
            </a:pPr>
            <a:r>
              <a:rPr lang="en-US" sz="1250" dirty="0">
                <a:solidFill>
                  <a:srgbClr val="65746F"/>
                </a:solidFill>
              </a:rPr>
              <a:t>Presenter: </a:t>
            </a:r>
            <a:r>
              <a:rPr lang="en-GB" altLang="en-US" sz="1250" dirty="0">
                <a:solidFill>
                  <a:srgbClr val="65746F"/>
                </a:solidFill>
              </a:rPr>
              <a:t>Chenai Mpofu</a:t>
            </a:r>
            <a:endParaRPr lang="en-GB" altLang="en-US" sz="1250" dirty="0">
              <a:solidFill>
                <a:srgbClr val="65746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6B63"/>
          </a:solidFill>
          <a:ln w="12700">
            <a:solidFill>
              <a:srgbClr val="0E6B63"/>
            </a:solidFill>
            <a:prstDash val="solid"/>
          </a:ln>
        </p:spPr>
      </p:sp>
      <p:sp>
        <p:nvSpPr>
          <p:cNvPr id="3" name="Shape 1"/>
          <p:cNvSpPr/>
          <p:nvPr/>
        </p:nvSpPr>
        <p:spPr>
          <a:xfrm>
            <a:off x="164592" y="0"/>
            <a:ext cx="54864" cy="6858000"/>
          </a:xfrm>
          <a:prstGeom prst="rect">
            <a:avLst/>
          </a:prstGeom>
          <a:solidFill>
            <a:srgbClr val="28A745"/>
          </a:solidFill>
          <a:ln w="12700">
            <a:solidFill>
              <a:srgbClr val="28A745"/>
            </a:solidFill>
            <a:prstDash val="solid"/>
          </a:ln>
        </p:spPr>
      </p:sp>
      <p:sp>
        <p:nvSpPr>
          <p:cNvPr id="4" name="Text 2"/>
          <p:cNvSpPr/>
          <p:nvPr/>
        </p:nvSpPr>
        <p:spPr>
          <a:xfrm>
            <a:off x="502920" y="6419088"/>
            <a:ext cx="5303520" cy="219456"/>
          </a:xfrm>
          <a:prstGeom prst="rect">
            <a:avLst/>
          </a:prstGeom>
          <a:noFill/>
        </p:spPr>
        <p:txBody>
          <a:bodyPr wrap="square" lIns="0" tIns="0" rIns="0" bIns="0" rtlCol="0" anchor="ctr"/>
          <a:lstStyle/>
          <a:p>
            <a:pPr marL="0" indent="0">
              <a:buNone/>
            </a:pPr>
            <a:r>
              <a:rPr lang="en-US" sz="850" dirty="0">
                <a:solidFill>
                  <a:srgbClr val="65746F"/>
                </a:solidFill>
                <a:latin typeface="Aptos" pitchFamily="34" charset="0"/>
                <a:ea typeface="Aptos" pitchFamily="34" charset="-122"/>
                <a:cs typeface="Aptos" pitchFamily="34" charset="-120"/>
              </a:rPr>
              <a:t>HealthConnect • Data Analytics • Week 8</a:t>
            </a:r>
            <a:endParaRPr lang="en-US" sz="850" dirty="0"/>
          </a:p>
        </p:txBody>
      </p:sp>
      <p:sp>
        <p:nvSpPr>
          <p:cNvPr id="5" name="Text 3"/>
          <p:cNvSpPr/>
          <p:nvPr/>
        </p:nvSpPr>
        <p:spPr>
          <a:xfrm>
            <a:off x="11201400" y="6419088"/>
            <a:ext cx="457200" cy="219456"/>
          </a:xfrm>
          <a:prstGeom prst="rect">
            <a:avLst/>
          </a:prstGeom>
          <a:noFill/>
        </p:spPr>
        <p:txBody>
          <a:bodyPr wrap="square" lIns="0" tIns="0" rIns="0" bIns="0" rtlCol="0" anchor="ctr"/>
          <a:lstStyle/>
          <a:p>
            <a:pPr marL="0" indent="0" algn="r">
              <a:buNone/>
            </a:pPr>
            <a:r>
              <a:rPr lang="en-US" sz="850" dirty="0">
                <a:solidFill>
                  <a:srgbClr val="65746F"/>
                </a:solidFill>
                <a:latin typeface="Aptos" pitchFamily="34" charset="0"/>
                <a:ea typeface="Aptos" pitchFamily="34" charset="-122"/>
                <a:cs typeface="Aptos" pitchFamily="34" charset="-120"/>
              </a:rPr>
              <a:t>2/7</a:t>
            </a:r>
            <a:endParaRPr lang="en-US" sz="850" dirty="0"/>
          </a:p>
        </p:txBody>
      </p:sp>
      <p:sp>
        <p:nvSpPr>
          <p:cNvPr id="6" name="Text 4"/>
          <p:cNvSpPr/>
          <p:nvPr/>
        </p:nvSpPr>
        <p:spPr>
          <a:xfrm>
            <a:off x="594360" y="384048"/>
            <a:ext cx="9784080" cy="457200"/>
          </a:xfrm>
          <a:prstGeom prst="rect">
            <a:avLst/>
          </a:prstGeom>
          <a:noFill/>
        </p:spPr>
        <p:txBody>
          <a:bodyPr wrap="square" lIns="0" tIns="0" rIns="0" bIns="0" rtlCol="0" anchor="ctr"/>
          <a:lstStyle/>
          <a:p>
            <a:pPr marL="0" indent="0">
              <a:buNone/>
            </a:pPr>
            <a:r>
              <a:rPr lang="en-US" sz="2700" b="1" dirty="0">
                <a:solidFill>
                  <a:srgbClr val="173B35"/>
                </a:solidFill>
                <a:latin typeface="Aptos Display" pitchFamily="34" charset="0"/>
                <a:ea typeface="Aptos Display" pitchFamily="34" charset="-122"/>
                <a:cs typeface="Aptos Display" pitchFamily="34" charset="-120"/>
              </a:rPr>
              <a:t>My Data Analytics Contribution</a:t>
            </a:r>
            <a:endParaRPr lang="en-US" sz="2700" dirty="0"/>
          </a:p>
        </p:txBody>
      </p:sp>
      <p:sp>
        <p:nvSpPr>
          <p:cNvPr id="7" name="Text 5"/>
          <p:cNvSpPr/>
          <p:nvPr/>
        </p:nvSpPr>
        <p:spPr>
          <a:xfrm>
            <a:off x="621792" y="896112"/>
            <a:ext cx="8961120" cy="310896"/>
          </a:xfrm>
          <a:prstGeom prst="rect">
            <a:avLst/>
          </a:prstGeom>
          <a:noFill/>
        </p:spPr>
        <p:txBody>
          <a:bodyPr wrap="square" lIns="0" tIns="0" rIns="0" bIns="0" rtlCol="0" anchor="ctr"/>
          <a:lstStyle/>
          <a:p>
            <a:pPr marL="0" indent="0">
              <a:buNone/>
            </a:pPr>
            <a:r>
              <a:rPr lang="en-US" sz="1150" dirty="0">
                <a:solidFill>
                  <a:srgbClr val="65746F"/>
                </a:solidFill>
              </a:rPr>
              <a:t>Dataset, tools, dashboard structure and attendance drivers</a:t>
            </a:r>
            <a:endParaRPr lang="en-US" sz="1150" dirty="0"/>
          </a:p>
        </p:txBody>
      </p:sp>
      <p:sp>
        <p:nvSpPr>
          <p:cNvPr id="8" name="Text 6"/>
          <p:cNvSpPr/>
          <p:nvPr/>
        </p:nvSpPr>
        <p:spPr>
          <a:xfrm>
            <a:off x="685800" y="1325880"/>
            <a:ext cx="7132320" cy="475488"/>
          </a:xfrm>
          <a:prstGeom prst="rect">
            <a:avLst/>
          </a:prstGeom>
          <a:noFill/>
        </p:spPr>
        <p:txBody>
          <a:bodyPr wrap="square" lIns="0" tIns="0" rIns="0" bIns="0" rtlCol="0" anchor="ctr"/>
          <a:lstStyle/>
          <a:p>
            <a:pPr marL="0" indent="0">
              <a:buNone/>
            </a:pPr>
            <a:r>
              <a:rPr lang="en-US" sz="2200" b="1" dirty="0">
                <a:solidFill>
                  <a:srgbClr val="173B35"/>
                </a:solidFill>
              </a:rPr>
              <a:t>I turned 5,000 appointment records into a Power BI decision-support dashboard.</a:t>
            </a:r>
            <a:endParaRPr lang="en-US" sz="2200" dirty="0"/>
          </a:p>
        </p:txBody>
      </p:sp>
      <p:sp>
        <p:nvSpPr>
          <p:cNvPr id="9" name="Shape 7"/>
          <p:cNvSpPr/>
          <p:nvPr/>
        </p:nvSpPr>
        <p:spPr>
          <a:xfrm>
            <a:off x="777240" y="2148840"/>
            <a:ext cx="2788920" cy="1234440"/>
          </a:xfrm>
          <a:prstGeom prst="rect">
            <a:avLst/>
          </a:prstGeom>
          <a:solidFill>
            <a:srgbClr val="FFFFFF"/>
          </a:solidFill>
          <a:ln w="12700">
            <a:solidFill>
              <a:srgbClr val="B8D9D1">
                <a:alpha val="80000"/>
              </a:srgbClr>
            </a:solidFill>
            <a:prstDash val="solid"/>
          </a:ln>
        </p:spPr>
      </p:sp>
      <p:sp>
        <p:nvSpPr>
          <p:cNvPr id="10" name="Shape 8"/>
          <p:cNvSpPr/>
          <p:nvPr/>
        </p:nvSpPr>
        <p:spPr>
          <a:xfrm>
            <a:off x="777240" y="2148840"/>
            <a:ext cx="73152" cy="1234440"/>
          </a:xfrm>
          <a:prstGeom prst="rect">
            <a:avLst/>
          </a:prstGeom>
          <a:solidFill>
            <a:srgbClr val="0E6B63"/>
          </a:solidFill>
          <a:ln w="12700">
            <a:solidFill>
              <a:srgbClr val="0E6B63"/>
            </a:solidFill>
            <a:prstDash val="solid"/>
          </a:ln>
        </p:spPr>
      </p:sp>
      <p:sp>
        <p:nvSpPr>
          <p:cNvPr id="11" name="Text 9"/>
          <p:cNvSpPr/>
          <p:nvPr/>
        </p:nvSpPr>
        <p:spPr>
          <a:xfrm>
            <a:off x="978408" y="2313432"/>
            <a:ext cx="2423160" cy="420624"/>
          </a:xfrm>
          <a:prstGeom prst="rect">
            <a:avLst/>
          </a:prstGeom>
          <a:noFill/>
        </p:spPr>
        <p:txBody>
          <a:bodyPr wrap="square" lIns="0" tIns="0" rIns="0" bIns="0" rtlCol="0" anchor="ctr"/>
          <a:lstStyle/>
          <a:p>
            <a:pPr marL="0" indent="0">
              <a:buNone/>
            </a:pPr>
            <a:r>
              <a:rPr lang="en-US" sz="2800" b="1" dirty="0">
                <a:solidFill>
                  <a:srgbClr val="0E6B63"/>
                </a:solidFill>
              </a:rPr>
              <a:t>5,000</a:t>
            </a:r>
            <a:endParaRPr lang="en-US" sz="2800" dirty="0"/>
          </a:p>
        </p:txBody>
      </p:sp>
      <p:sp>
        <p:nvSpPr>
          <p:cNvPr id="12" name="Text 10"/>
          <p:cNvSpPr/>
          <p:nvPr/>
        </p:nvSpPr>
        <p:spPr>
          <a:xfrm>
            <a:off x="978408" y="2807208"/>
            <a:ext cx="2423160" cy="384048"/>
          </a:xfrm>
          <a:prstGeom prst="rect">
            <a:avLst/>
          </a:prstGeom>
          <a:noFill/>
        </p:spPr>
        <p:txBody>
          <a:bodyPr wrap="square" lIns="0" tIns="0" rIns="0" bIns="0" rtlCol="0" anchor="ctr">
            <a:normAutofit/>
          </a:bodyPr>
          <a:lstStyle/>
          <a:p>
            <a:pPr marL="0" indent="0">
              <a:buNone/>
            </a:pPr>
            <a:r>
              <a:rPr lang="en-US" sz="1050" dirty="0">
                <a:solidFill>
                  <a:srgbClr val="173B35"/>
                </a:solidFill>
              </a:rPr>
              <a:t>appointment records analysed</a:t>
            </a:r>
            <a:endParaRPr lang="en-US" sz="1050" dirty="0"/>
          </a:p>
        </p:txBody>
      </p:sp>
      <p:sp>
        <p:nvSpPr>
          <p:cNvPr id="13" name="Shape 11"/>
          <p:cNvSpPr/>
          <p:nvPr/>
        </p:nvSpPr>
        <p:spPr>
          <a:xfrm>
            <a:off x="3794760" y="2148840"/>
            <a:ext cx="2788920" cy="1234440"/>
          </a:xfrm>
          <a:prstGeom prst="rect">
            <a:avLst/>
          </a:prstGeom>
          <a:solidFill>
            <a:srgbClr val="FFFFFF"/>
          </a:solidFill>
          <a:ln w="12700">
            <a:solidFill>
              <a:srgbClr val="B8D9D1">
                <a:alpha val="80000"/>
              </a:srgbClr>
            </a:solidFill>
            <a:prstDash val="solid"/>
          </a:ln>
        </p:spPr>
      </p:sp>
      <p:sp>
        <p:nvSpPr>
          <p:cNvPr id="14" name="Shape 12"/>
          <p:cNvSpPr/>
          <p:nvPr/>
        </p:nvSpPr>
        <p:spPr>
          <a:xfrm>
            <a:off x="3794760" y="2148840"/>
            <a:ext cx="73152" cy="1234440"/>
          </a:xfrm>
          <a:prstGeom prst="rect">
            <a:avLst/>
          </a:prstGeom>
          <a:solidFill>
            <a:srgbClr val="28A745"/>
          </a:solidFill>
          <a:ln w="12700">
            <a:solidFill>
              <a:srgbClr val="28A745"/>
            </a:solidFill>
            <a:prstDash val="solid"/>
          </a:ln>
        </p:spPr>
      </p:sp>
      <p:sp>
        <p:nvSpPr>
          <p:cNvPr id="15" name="Text 13"/>
          <p:cNvSpPr/>
          <p:nvPr/>
        </p:nvSpPr>
        <p:spPr>
          <a:xfrm>
            <a:off x="3995928" y="2313432"/>
            <a:ext cx="2423160" cy="420624"/>
          </a:xfrm>
          <a:prstGeom prst="rect">
            <a:avLst/>
          </a:prstGeom>
          <a:noFill/>
        </p:spPr>
        <p:txBody>
          <a:bodyPr wrap="square" lIns="0" tIns="0" rIns="0" bIns="0" rtlCol="0" anchor="ctr"/>
          <a:lstStyle/>
          <a:p>
            <a:pPr marL="0" indent="0">
              <a:buNone/>
            </a:pPr>
            <a:r>
              <a:rPr lang="en-US" sz="2800" b="1" dirty="0">
                <a:solidFill>
                  <a:srgbClr val="28A745"/>
                </a:solidFill>
              </a:rPr>
              <a:t>2</a:t>
            </a:r>
            <a:endParaRPr lang="en-US" sz="2800" dirty="0"/>
          </a:p>
        </p:txBody>
      </p:sp>
      <p:sp>
        <p:nvSpPr>
          <p:cNvPr id="16" name="Text 14"/>
          <p:cNvSpPr/>
          <p:nvPr/>
        </p:nvSpPr>
        <p:spPr>
          <a:xfrm>
            <a:off x="3995928" y="2807208"/>
            <a:ext cx="2423160" cy="384048"/>
          </a:xfrm>
          <a:prstGeom prst="rect">
            <a:avLst/>
          </a:prstGeom>
          <a:noFill/>
        </p:spPr>
        <p:txBody>
          <a:bodyPr wrap="square" lIns="0" tIns="0" rIns="0" bIns="0" rtlCol="0" anchor="ctr">
            <a:normAutofit/>
          </a:bodyPr>
          <a:lstStyle/>
          <a:p>
            <a:pPr marL="0" indent="0">
              <a:buNone/>
            </a:pPr>
            <a:r>
              <a:rPr lang="en-US" sz="1050" dirty="0">
                <a:solidFill>
                  <a:srgbClr val="173B35"/>
                </a:solidFill>
              </a:rPr>
              <a:t>dashboard pages: Overview + Attendance Drivers</a:t>
            </a:r>
            <a:endParaRPr lang="en-US" sz="1050" dirty="0"/>
          </a:p>
        </p:txBody>
      </p:sp>
      <p:sp>
        <p:nvSpPr>
          <p:cNvPr id="17" name="Shape 15"/>
          <p:cNvSpPr/>
          <p:nvPr/>
        </p:nvSpPr>
        <p:spPr>
          <a:xfrm>
            <a:off x="6812280" y="2148840"/>
            <a:ext cx="2788920" cy="1234440"/>
          </a:xfrm>
          <a:prstGeom prst="rect">
            <a:avLst/>
          </a:prstGeom>
          <a:solidFill>
            <a:srgbClr val="FFFFFF"/>
          </a:solidFill>
          <a:ln w="12700">
            <a:solidFill>
              <a:srgbClr val="B8D9D1">
                <a:alpha val="80000"/>
              </a:srgbClr>
            </a:solidFill>
            <a:prstDash val="solid"/>
          </a:ln>
        </p:spPr>
      </p:sp>
      <p:sp>
        <p:nvSpPr>
          <p:cNvPr id="18" name="Shape 16"/>
          <p:cNvSpPr/>
          <p:nvPr/>
        </p:nvSpPr>
        <p:spPr>
          <a:xfrm>
            <a:off x="6812280" y="2148840"/>
            <a:ext cx="73152" cy="1234440"/>
          </a:xfrm>
          <a:prstGeom prst="rect">
            <a:avLst/>
          </a:prstGeom>
          <a:solidFill>
            <a:srgbClr val="F4A261"/>
          </a:solidFill>
          <a:ln w="12700">
            <a:solidFill>
              <a:srgbClr val="F4A261"/>
            </a:solidFill>
            <a:prstDash val="solid"/>
          </a:ln>
        </p:spPr>
      </p:sp>
      <p:sp>
        <p:nvSpPr>
          <p:cNvPr id="19" name="Text 17"/>
          <p:cNvSpPr/>
          <p:nvPr/>
        </p:nvSpPr>
        <p:spPr>
          <a:xfrm>
            <a:off x="7013448" y="2313432"/>
            <a:ext cx="2423160" cy="420624"/>
          </a:xfrm>
          <a:prstGeom prst="rect">
            <a:avLst/>
          </a:prstGeom>
          <a:noFill/>
        </p:spPr>
        <p:txBody>
          <a:bodyPr wrap="square" lIns="0" tIns="0" rIns="0" bIns="0" rtlCol="0" anchor="ctr"/>
          <a:lstStyle/>
          <a:p>
            <a:pPr marL="0" indent="0">
              <a:buNone/>
            </a:pPr>
            <a:r>
              <a:rPr lang="en-US" sz="2800" b="1" dirty="0">
                <a:solidFill>
                  <a:srgbClr val="F4A261"/>
                </a:solidFill>
              </a:rPr>
              <a:t>5</a:t>
            </a:r>
            <a:endParaRPr lang="en-US" sz="2800" dirty="0"/>
          </a:p>
        </p:txBody>
      </p:sp>
      <p:sp>
        <p:nvSpPr>
          <p:cNvPr id="20" name="Text 18"/>
          <p:cNvSpPr/>
          <p:nvPr/>
        </p:nvSpPr>
        <p:spPr>
          <a:xfrm>
            <a:off x="7013448" y="2807208"/>
            <a:ext cx="2423160" cy="384048"/>
          </a:xfrm>
          <a:prstGeom prst="rect">
            <a:avLst/>
          </a:prstGeom>
          <a:noFill/>
        </p:spPr>
        <p:txBody>
          <a:bodyPr wrap="square" lIns="0" tIns="0" rIns="0" bIns="0" rtlCol="0" anchor="ctr">
            <a:normAutofit/>
          </a:bodyPr>
          <a:lstStyle/>
          <a:p>
            <a:pPr marL="0" indent="0">
              <a:buNone/>
            </a:pPr>
            <a:r>
              <a:rPr lang="en-US" sz="1050" dirty="0">
                <a:solidFill>
                  <a:srgbClr val="173B35"/>
                </a:solidFill>
              </a:rPr>
              <a:t>attendance factors examined</a:t>
            </a:r>
            <a:endParaRPr lang="en-US" sz="1050" dirty="0"/>
          </a:p>
        </p:txBody>
      </p:sp>
      <p:sp>
        <p:nvSpPr>
          <p:cNvPr id="21" name="Shape 19"/>
          <p:cNvSpPr/>
          <p:nvPr/>
        </p:nvSpPr>
        <p:spPr>
          <a:xfrm>
            <a:off x="822960" y="4069080"/>
            <a:ext cx="1325880" cy="347472"/>
          </a:xfrm>
          <a:prstGeom prst="roundRect">
            <a:avLst>
              <a:gd name="adj" fmla="val 21053"/>
            </a:avLst>
          </a:prstGeom>
          <a:solidFill>
            <a:srgbClr val="DDF2EA"/>
          </a:solidFill>
          <a:ln w="12700">
            <a:solidFill>
              <a:srgbClr val="DDF2EA"/>
            </a:solidFill>
            <a:prstDash val="solid"/>
          </a:ln>
        </p:spPr>
      </p:sp>
      <p:sp>
        <p:nvSpPr>
          <p:cNvPr id="22" name="Text 20"/>
          <p:cNvSpPr/>
          <p:nvPr/>
        </p:nvSpPr>
        <p:spPr>
          <a:xfrm>
            <a:off x="914400" y="4155948"/>
            <a:ext cx="1143000" cy="155448"/>
          </a:xfrm>
          <a:prstGeom prst="rect">
            <a:avLst/>
          </a:prstGeom>
          <a:noFill/>
        </p:spPr>
        <p:txBody>
          <a:bodyPr wrap="square" lIns="0" tIns="0" rIns="0" bIns="0" rtlCol="0" anchor="ctr"/>
          <a:lstStyle/>
          <a:p>
            <a:pPr marL="0" indent="0" algn="ctr">
              <a:buNone/>
            </a:pPr>
            <a:r>
              <a:rPr lang="en-US" sz="950" b="1" dirty="0">
                <a:solidFill>
                  <a:srgbClr val="0E6B63"/>
                </a:solidFill>
              </a:rPr>
              <a:t>Power BI</a:t>
            </a:r>
            <a:endParaRPr lang="en-US" sz="950" dirty="0"/>
          </a:p>
        </p:txBody>
      </p:sp>
      <p:sp>
        <p:nvSpPr>
          <p:cNvPr id="23" name="Shape 21"/>
          <p:cNvSpPr/>
          <p:nvPr/>
        </p:nvSpPr>
        <p:spPr>
          <a:xfrm>
            <a:off x="2331720" y="4069080"/>
            <a:ext cx="1508760" cy="347472"/>
          </a:xfrm>
          <a:prstGeom prst="roundRect">
            <a:avLst>
              <a:gd name="adj" fmla="val 21053"/>
            </a:avLst>
          </a:prstGeom>
          <a:solidFill>
            <a:srgbClr val="DDF2EA"/>
          </a:solidFill>
          <a:ln w="12700">
            <a:solidFill>
              <a:srgbClr val="DDF2EA"/>
            </a:solidFill>
            <a:prstDash val="solid"/>
          </a:ln>
        </p:spPr>
      </p:sp>
      <p:sp>
        <p:nvSpPr>
          <p:cNvPr id="24" name="Text 22"/>
          <p:cNvSpPr/>
          <p:nvPr/>
        </p:nvSpPr>
        <p:spPr>
          <a:xfrm>
            <a:off x="2423160" y="4155948"/>
            <a:ext cx="1325880" cy="155448"/>
          </a:xfrm>
          <a:prstGeom prst="rect">
            <a:avLst/>
          </a:prstGeom>
          <a:noFill/>
        </p:spPr>
        <p:txBody>
          <a:bodyPr wrap="square" lIns="0" tIns="0" rIns="0" bIns="0" rtlCol="0" anchor="ctr"/>
          <a:lstStyle/>
          <a:p>
            <a:pPr marL="0" indent="0" algn="ctr">
              <a:buNone/>
            </a:pPr>
            <a:r>
              <a:rPr lang="en-US" sz="950" b="1" dirty="0">
                <a:solidFill>
                  <a:srgbClr val="0E6B63"/>
                </a:solidFill>
              </a:rPr>
              <a:t>Power Query</a:t>
            </a:r>
            <a:endParaRPr lang="en-US" sz="950" dirty="0"/>
          </a:p>
        </p:txBody>
      </p:sp>
      <p:sp>
        <p:nvSpPr>
          <p:cNvPr id="25" name="Shape 23"/>
          <p:cNvSpPr/>
          <p:nvPr/>
        </p:nvSpPr>
        <p:spPr>
          <a:xfrm>
            <a:off x="4069080" y="4069080"/>
            <a:ext cx="1005840" cy="347472"/>
          </a:xfrm>
          <a:prstGeom prst="roundRect">
            <a:avLst>
              <a:gd name="adj" fmla="val 21053"/>
            </a:avLst>
          </a:prstGeom>
          <a:solidFill>
            <a:srgbClr val="DDF2EA"/>
          </a:solidFill>
          <a:ln w="12700">
            <a:solidFill>
              <a:srgbClr val="DDF2EA"/>
            </a:solidFill>
            <a:prstDash val="solid"/>
          </a:ln>
        </p:spPr>
      </p:sp>
      <p:sp>
        <p:nvSpPr>
          <p:cNvPr id="26" name="Text 24"/>
          <p:cNvSpPr/>
          <p:nvPr/>
        </p:nvSpPr>
        <p:spPr>
          <a:xfrm>
            <a:off x="4160520" y="4155948"/>
            <a:ext cx="822960" cy="155448"/>
          </a:xfrm>
          <a:prstGeom prst="rect">
            <a:avLst/>
          </a:prstGeom>
          <a:noFill/>
        </p:spPr>
        <p:txBody>
          <a:bodyPr wrap="square" lIns="0" tIns="0" rIns="0" bIns="0" rtlCol="0" anchor="ctr"/>
          <a:lstStyle/>
          <a:p>
            <a:pPr marL="0" indent="0" algn="ctr">
              <a:buNone/>
            </a:pPr>
            <a:r>
              <a:rPr lang="en-US" sz="950" b="1" dirty="0">
                <a:solidFill>
                  <a:srgbClr val="0E6B63"/>
                </a:solidFill>
              </a:rPr>
              <a:t>DAX</a:t>
            </a:r>
            <a:endParaRPr lang="en-US" sz="950" dirty="0"/>
          </a:p>
        </p:txBody>
      </p:sp>
      <p:sp>
        <p:nvSpPr>
          <p:cNvPr id="27" name="Shape 25"/>
          <p:cNvSpPr/>
          <p:nvPr/>
        </p:nvSpPr>
        <p:spPr>
          <a:xfrm>
            <a:off x="5257800" y="4069080"/>
            <a:ext cx="1920240" cy="347472"/>
          </a:xfrm>
          <a:prstGeom prst="roundRect">
            <a:avLst>
              <a:gd name="adj" fmla="val 21053"/>
            </a:avLst>
          </a:prstGeom>
          <a:solidFill>
            <a:srgbClr val="DDF2EA"/>
          </a:solidFill>
          <a:ln w="12700">
            <a:solidFill>
              <a:srgbClr val="DDF2EA"/>
            </a:solidFill>
            <a:prstDash val="solid"/>
          </a:ln>
        </p:spPr>
      </p:sp>
      <p:sp>
        <p:nvSpPr>
          <p:cNvPr id="28" name="Text 26"/>
          <p:cNvSpPr/>
          <p:nvPr/>
        </p:nvSpPr>
        <p:spPr>
          <a:xfrm>
            <a:off x="5349240" y="4155948"/>
            <a:ext cx="1737360" cy="155448"/>
          </a:xfrm>
          <a:prstGeom prst="rect">
            <a:avLst/>
          </a:prstGeom>
          <a:noFill/>
        </p:spPr>
        <p:txBody>
          <a:bodyPr wrap="square" lIns="0" tIns="0" rIns="0" bIns="0" rtlCol="0" anchor="ctr"/>
          <a:lstStyle/>
          <a:p>
            <a:pPr marL="0" indent="0" algn="ctr">
              <a:buNone/>
            </a:pPr>
            <a:r>
              <a:rPr lang="en-US" sz="950" b="1" dirty="0">
                <a:solidFill>
                  <a:srgbClr val="0E6B63"/>
                </a:solidFill>
              </a:rPr>
              <a:t>Year-Month slicer</a:t>
            </a:r>
            <a:endParaRPr lang="en-US" sz="950" dirty="0"/>
          </a:p>
        </p:txBody>
      </p:sp>
      <p:sp>
        <p:nvSpPr>
          <p:cNvPr id="29" name="Shape 27"/>
          <p:cNvSpPr/>
          <p:nvPr/>
        </p:nvSpPr>
        <p:spPr>
          <a:xfrm>
            <a:off x="7360920" y="4069080"/>
            <a:ext cx="2148840" cy="347472"/>
          </a:xfrm>
          <a:prstGeom prst="roundRect">
            <a:avLst>
              <a:gd name="adj" fmla="val 21053"/>
            </a:avLst>
          </a:prstGeom>
          <a:solidFill>
            <a:srgbClr val="DDF2EA"/>
          </a:solidFill>
          <a:ln w="12700">
            <a:solidFill>
              <a:srgbClr val="DDF2EA"/>
            </a:solidFill>
            <a:prstDash val="solid"/>
          </a:ln>
        </p:spPr>
      </p:sp>
      <p:sp>
        <p:nvSpPr>
          <p:cNvPr id="30" name="Text 28"/>
          <p:cNvSpPr/>
          <p:nvPr/>
        </p:nvSpPr>
        <p:spPr>
          <a:xfrm>
            <a:off x="7452360" y="4155948"/>
            <a:ext cx="1965960" cy="155448"/>
          </a:xfrm>
          <a:prstGeom prst="rect">
            <a:avLst/>
          </a:prstGeom>
          <a:noFill/>
        </p:spPr>
        <p:txBody>
          <a:bodyPr wrap="square" lIns="0" tIns="0" rIns="0" bIns="0" rtlCol="0" anchor="ctr"/>
          <a:lstStyle/>
          <a:p>
            <a:pPr marL="0" indent="0" algn="ctr">
              <a:buNone/>
            </a:pPr>
            <a:r>
              <a:rPr lang="en-US" sz="950" b="1" dirty="0">
                <a:solidFill>
                  <a:srgbClr val="0E6B63"/>
                </a:solidFill>
              </a:rPr>
              <a:t>Appointment Type slicer</a:t>
            </a:r>
            <a:endParaRPr lang="en-US" sz="950" dirty="0"/>
          </a:p>
        </p:txBody>
      </p:sp>
      <p:sp>
        <p:nvSpPr>
          <p:cNvPr id="31" name="Text 29"/>
          <p:cNvSpPr/>
          <p:nvPr/>
        </p:nvSpPr>
        <p:spPr>
          <a:xfrm>
            <a:off x="822960" y="4754880"/>
            <a:ext cx="5486400" cy="1097280"/>
          </a:xfrm>
          <a:prstGeom prst="rect">
            <a:avLst/>
          </a:prstGeom>
          <a:noFill/>
        </p:spPr>
        <p:txBody>
          <a:bodyPr wrap="square" lIns="508" tIns="508" rIns="508" bIns="508" rtlCol="0" anchor="ctr">
            <a:normAutofit/>
          </a:bodyPr>
          <a:lstStyle/>
          <a:p>
            <a:r>
              <a:rPr lang="en-US" sz="1400" dirty="0">
                <a:solidFill>
                  <a:srgbClr val="173B35"/>
                </a:solidFill>
              </a:rPr>
              <a:t>Previous no-show history</a:t>
            </a:r>
            <a:endParaRPr lang="en-US" sz="1400" dirty="0"/>
          </a:p>
          <a:p>
            <a:r>
              <a:rPr lang="en-US" sz="1400" dirty="0">
                <a:solidFill>
                  <a:srgbClr val="173B35"/>
                </a:solidFill>
              </a:rPr>
              <a:t>Booking lead time</a:t>
            </a:r>
            <a:endParaRPr lang="en-US" sz="1400" dirty="0"/>
          </a:p>
          <a:p>
            <a:r>
              <a:rPr lang="en-US" sz="1400" dirty="0">
                <a:solidFill>
                  <a:srgbClr val="173B35"/>
                </a:solidFill>
              </a:rPr>
              <a:t>Reminder status</a:t>
            </a:r>
            <a:endParaRPr lang="en-US" sz="1400" dirty="0"/>
          </a:p>
          <a:p>
            <a:r>
              <a:rPr lang="en-US" sz="1400" dirty="0">
                <a:solidFill>
                  <a:srgbClr val="173B35"/>
                </a:solidFill>
              </a:rPr>
              <a:t>Appointment time</a:t>
            </a:r>
            <a:endParaRPr lang="en-US" sz="1400" dirty="0"/>
          </a:p>
          <a:p>
            <a:r>
              <a:rPr lang="en-US" sz="1400" dirty="0">
                <a:solidFill>
                  <a:srgbClr val="173B35"/>
                </a:solidFill>
              </a:rPr>
              <a:t>Appointment type</a:t>
            </a:r>
            <a:endParaRPr lang="en-US" sz="1400" dirty="0"/>
          </a:p>
        </p:txBody>
      </p:sp>
      <p:sp>
        <p:nvSpPr>
          <p:cNvPr id="32" name="Shape 30"/>
          <p:cNvSpPr/>
          <p:nvPr/>
        </p:nvSpPr>
        <p:spPr>
          <a:xfrm>
            <a:off x="6446520" y="4663440"/>
            <a:ext cx="713232" cy="685800"/>
          </a:xfrm>
          <a:prstGeom prst="chevron">
            <a:avLst/>
          </a:prstGeom>
          <a:solidFill>
            <a:srgbClr val="DDF2EA"/>
          </a:solidFill>
          <a:ln w="12700">
            <a:solidFill>
              <a:srgbClr val="DDF2EA"/>
            </a:solidFill>
            <a:prstDash val="solid"/>
          </a:ln>
        </p:spPr>
      </p:sp>
      <p:sp>
        <p:nvSpPr>
          <p:cNvPr id="33" name="Text 31"/>
          <p:cNvSpPr/>
          <p:nvPr/>
        </p:nvSpPr>
        <p:spPr>
          <a:xfrm>
            <a:off x="7543800" y="4791456"/>
            <a:ext cx="3474720" cy="274320"/>
          </a:xfrm>
          <a:prstGeom prst="rect">
            <a:avLst/>
          </a:prstGeom>
          <a:noFill/>
        </p:spPr>
        <p:txBody>
          <a:bodyPr wrap="square" lIns="0" tIns="0" rIns="0" bIns="0" rtlCol="0" anchor="ctr"/>
          <a:lstStyle/>
          <a:p>
            <a:pPr marL="0" indent="0">
              <a:buNone/>
            </a:pPr>
            <a:r>
              <a:rPr lang="en-US" sz="1500" b="1" dirty="0">
                <a:solidFill>
                  <a:srgbClr val="0E6B63"/>
                </a:solidFill>
              </a:rPr>
              <a:t>Analysis → Dashboard → Decisions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6B63"/>
          </a:solidFill>
          <a:ln w="12700">
            <a:solidFill>
              <a:srgbClr val="0E6B63"/>
            </a:solidFill>
            <a:prstDash val="solid"/>
          </a:ln>
        </p:spPr>
      </p:sp>
      <p:sp>
        <p:nvSpPr>
          <p:cNvPr id="3" name="Shape 1"/>
          <p:cNvSpPr/>
          <p:nvPr/>
        </p:nvSpPr>
        <p:spPr>
          <a:xfrm>
            <a:off x="164592" y="0"/>
            <a:ext cx="54864" cy="6858000"/>
          </a:xfrm>
          <a:prstGeom prst="rect">
            <a:avLst/>
          </a:prstGeom>
          <a:solidFill>
            <a:srgbClr val="28A745"/>
          </a:solidFill>
          <a:ln w="12700">
            <a:solidFill>
              <a:srgbClr val="28A745"/>
            </a:solidFill>
            <a:prstDash val="solid"/>
          </a:ln>
        </p:spPr>
      </p:sp>
      <p:sp>
        <p:nvSpPr>
          <p:cNvPr id="4" name="Text 2"/>
          <p:cNvSpPr/>
          <p:nvPr/>
        </p:nvSpPr>
        <p:spPr>
          <a:xfrm>
            <a:off x="502920" y="6419088"/>
            <a:ext cx="5303520" cy="219456"/>
          </a:xfrm>
          <a:prstGeom prst="rect">
            <a:avLst/>
          </a:prstGeom>
          <a:noFill/>
        </p:spPr>
        <p:txBody>
          <a:bodyPr wrap="square" lIns="0" tIns="0" rIns="0" bIns="0" rtlCol="0" anchor="ctr"/>
          <a:lstStyle/>
          <a:p>
            <a:pPr marL="0" indent="0">
              <a:buNone/>
            </a:pPr>
            <a:r>
              <a:rPr lang="en-US" sz="850" dirty="0">
                <a:solidFill>
                  <a:srgbClr val="65746F"/>
                </a:solidFill>
                <a:latin typeface="Aptos" pitchFamily="34" charset="0"/>
                <a:ea typeface="Aptos" pitchFamily="34" charset="-122"/>
                <a:cs typeface="Aptos" pitchFamily="34" charset="-120"/>
              </a:rPr>
              <a:t>HealthConnect • Data Analytics • Week 8</a:t>
            </a:r>
            <a:endParaRPr lang="en-US" sz="850" dirty="0"/>
          </a:p>
        </p:txBody>
      </p:sp>
      <p:sp>
        <p:nvSpPr>
          <p:cNvPr id="5" name="Text 3"/>
          <p:cNvSpPr/>
          <p:nvPr/>
        </p:nvSpPr>
        <p:spPr>
          <a:xfrm>
            <a:off x="11201400" y="6419088"/>
            <a:ext cx="457200" cy="219456"/>
          </a:xfrm>
          <a:prstGeom prst="rect">
            <a:avLst/>
          </a:prstGeom>
          <a:noFill/>
        </p:spPr>
        <p:txBody>
          <a:bodyPr wrap="square" lIns="0" tIns="0" rIns="0" bIns="0" rtlCol="0" anchor="ctr"/>
          <a:lstStyle/>
          <a:p>
            <a:pPr marL="0" indent="0" algn="r">
              <a:buNone/>
            </a:pPr>
            <a:r>
              <a:rPr lang="en-US" sz="850" dirty="0">
                <a:solidFill>
                  <a:srgbClr val="65746F"/>
                </a:solidFill>
                <a:latin typeface="Aptos" pitchFamily="34" charset="0"/>
                <a:ea typeface="Aptos" pitchFamily="34" charset="-122"/>
                <a:cs typeface="Aptos" pitchFamily="34" charset="-120"/>
              </a:rPr>
              <a:t>3/7</a:t>
            </a:r>
            <a:endParaRPr lang="en-US" sz="850" dirty="0"/>
          </a:p>
        </p:txBody>
      </p:sp>
      <p:sp>
        <p:nvSpPr>
          <p:cNvPr id="6" name="Text 4"/>
          <p:cNvSpPr/>
          <p:nvPr/>
        </p:nvSpPr>
        <p:spPr>
          <a:xfrm>
            <a:off x="594360" y="384048"/>
            <a:ext cx="9784080" cy="457200"/>
          </a:xfrm>
          <a:prstGeom prst="rect">
            <a:avLst/>
          </a:prstGeom>
          <a:noFill/>
        </p:spPr>
        <p:txBody>
          <a:bodyPr wrap="square" lIns="0" tIns="0" rIns="0" bIns="0" rtlCol="0" anchor="ctr"/>
          <a:lstStyle/>
          <a:p>
            <a:pPr marL="0" indent="0">
              <a:buNone/>
            </a:pPr>
            <a:r>
              <a:rPr lang="en-US" sz="2700" b="1" dirty="0">
                <a:solidFill>
                  <a:srgbClr val="173B35"/>
                </a:solidFill>
                <a:latin typeface="Aptos Display" pitchFamily="34" charset="0"/>
                <a:ea typeface="Aptos Display" pitchFamily="34" charset="-122"/>
                <a:cs typeface="Aptos Display" pitchFamily="34" charset="-120"/>
              </a:rPr>
              <a:t>Final Validated KPIs</a:t>
            </a:r>
            <a:endParaRPr lang="en-US" sz="2700" dirty="0"/>
          </a:p>
        </p:txBody>
      </p:sp>
      <p:sp>
        <p:nvSpPr>
          <p:cNvPr id="7" name="Text 5"/>
          <p:cNvSpPr/>
          <p:nvPr/>
        </p:nvSpPr>
        <p:spPr>
          <a:xfrm>
            <a:off x="621792" y="896112"/>
            <a:ext cx="8961120" cy="310896"/>
          </a:xfrm>
          <a:prstGeom prst="rect">
            <a:avLst/>
          </a:prstGeom>
          <a:noFill/>
        </p:spPr>
        <p:txBody>
          <a:bodyPr wrap="square" lIns="0" tIns="0" rIns="0" bIns="0" rtlCol="0" anchor="ctr"/>
          <a:lstStyle/>
          <a:p>
            <a:pPr marL="0" indent="0">
              <a:buNone/>
            </a:pPr>
            <a:r>
              <a:rPr lang="en-US" sz="1150" dirty="0">
                <a:solidFill>
                  <a:srgbClr val="65746F"/>
                </a:solidFill>
              </a:rPr>
              <a:t>Confirmed during Week 7 KPI and slicer testing</a:t>
            </a:r>
            <a:endParaRPr lang="en-US" sz="1150" dirty="0"/>
          </a:p>
        </p:txBody>
      </p:sp>
      <p:sp>
        <p:nvSpPr>
          <p:cNvPr id="8" name="Shape 6"/>
          <p:cNvSpPr/>
          <p:nvPr/>
        </p:nvSpPr>
        <p:spPr>
          <a:xfrm>
            <a:off x="777240" y="1508760"/>
            <a:ext cx="2560320" cy="1463040"/>
          </a:xfrm>
          <a:prstGeom prst="rect">
            <a:avLst/>
          </a:prstGeom>
          <a:solidFill>
            <a:srgbClr val="FFFFFF"/>
          </a:solidFill>
          <a:ln w="12700">
            <a:solidFill>
              <a:srgbClr val="B8D9D1">
                <a:alpha val="80000"/>
              </a:srgbClr>
            </a:solidFill>
            <a:prstDash val="solid"/>
          </a:ln>
        </p:spPr>
      </p:sp>
      <p:sp>
        <p:nvSpPr>
          <p:cNvPr id="9" name="Shape 7"/>
          <p:cNvSpPr/>
          <p:nvPr/>
        </p:nvSpPr>
        <p:spPr>
          <a:xfrm>
            <a:off x="777240" y="1508760"/>
            <a:ext cx="73152" cy="1463040"/>
          </a:xfrm>
          <a:prstGeom prst="rect">
            <a:avLst/>
          </a:prstGeom>
          <a:solidFill>
            <a:srgbClr val="0E6B63"/>
          </a:solidFill>
          <a:ln w="12700">
            <a:solidFill>
              <a:srgbClr val="0E6B63"/>
            </a:solidFill>
            <a:prstDash val="solid"/>
          </a:ln>
        </p:spPr>
      </p:sp>
      <p:sp>
        <p:nvSpPr>
          <p:cNvPr id="10" name="Text 8"/>
          <p:cNvSpPr/>
          <p:nvPr/>
        </p:nvSpPr>
        <p:spPr>
          <a:xfrm>
            <a:off x="978408" y="1673352"/>
            <a:ext cx="2194560" cy="420624"/>
          </a:xfrm>
          <a:prstGeom prst="rect">
            <a:avLst/>
          </a:prstGeom>
          <a:noFill/>
        </p:spPr>
        <p:txBody>
          <a:bodyPr wrap="square" lIns="0" tIns="0" rIns="0" bIns="0" rtlCol="0" anchor="ctr"/>
          <a:lstStyle/>
          <a:p>
            <a:pPr marL="0" indent="0">
              <a:buNone/>
            </a:pPr>
            <a:r>
              <a:rPr lang="en-US" sz="2800" b="1" dirty="0">
                <a:solidFill>
                  <a:srgbClr val="0E6B63"/>
                </a:solidFill>
              </a:rPr>
              <a:t>51.2%</a:t>
            </a:r>
            <a:endParaRPr lang="en-US" sz="2800" dirty="0"/>
          </a:p>
        </p:txBody>
      </p:sp>
      <p:sp>
        <p:nvSpPr>
          <p:cNvPr id="11" name="Text 9"/>
          <p:cNvSpPr/>
          <p:nvPr/>
        </p:nvSpPr>
        <p:spPr>
          <a:xfrm>
            <a:off x="978408" y="2167128"/>
            <a:ext cx="2194560" cy="384048"/>
          </a:xfrm>
          <a:prstGeom prst="rect">
            <a:avLst/>
          </a:prstGeom>
          <a:noFill/>
        </p:spPr>
        <p:txBody>
          <a:bodyPr wrap="square" lIns="0" tIns="0" rIns="0" bIns="0" rtlCol="0" anchor="ctr">
            <a:normAutofit/>
          </a:bodyPr>
          <a:lstStyle/>
          <a:p>
            <a:pPr marL="0" indent="0">
              <a:buNone/>
            </a:pPr>
            <a:r>
              <a:rPr lang="en-US" sz="1050" dirty="0">
                <a:solidFill>
                  <a:srgbClr val="173B35"/>
                </a:solidFill>
              </a:rPr>
              <a:t>No-show rate</a:t>
            </a:r>
            <a:endParaRPr lang="en-US" sz="1050" dirty="0"/>
          </a:p>
        </p:txBody>
      </p:sp>
      <p:sp>
        <p:nvSpPr>
          <p:cNvPr id="12" name="Shape 10"/>
          <p:cNvSpPr/>
          <p:nvPr/>
        </p:nvSpPr>
        <p:spPr>
          <a:xfrm>
            <a:off x="3611880" y="1508760"/>
            <a:ext cx="2560320" cy="1463040"/>
          </a:xfrm>
          <a:prstGeom prst="rect">
            <a:avLst/>
          </a:prstGeom>
          <a:solidFill>
            <a:srgbClr val="FFFFFF"/>
          </a:solidFill>
          <a:ln w="12700">
            <a:solidFill>
              <a:srgbClr val="B8D9D1">
                <a:alpha val="80000"/>
              </a:srgbClr>
            </a:solidFill>
            <a:prstDash val="solid"/>
          </a:ln>
        </p:spPr>
      </p:sp>
      <p:sp>
        <p:nvSpPr>
          <p:cNvPr id="13" name="Shape 11"/>
          <p:cNvSpPr/>
          <p:nvPr/>
        </p:nvSpPr>
        <p:spPr>
          <a:xfrm>
            <a:off x="3611880" y="1508760"/>
            <a:ext cx="73152" cy="1463040"/>
          </a:xfrm>
          <a:prstGeom prst="rect">
            <a:avLst/>
          </a:prstGeom>
          <a:solidFill>
            <a:srgbClr val="C94C4C"/>
          </a:solidFill>
          <a:ln w="12700">
            <a:solidFill>
              <a:srgbClr val="C94C4C"/>
            </a:solidFill>
            <a:prstDash val="solid"/>
          </a:ln>
        </p:spPr>
      </p:sp>
      <p:sp>
        <p:nvSpPr>
          <p:cNvPr id="14" name="Text 12"/>
          <p:cNvSpPr/>
          <p:nvPr/>
        </p:nvSpPr>
        <p:spPr>
          <a:xfrm>
            <a:off x="3813048" y="1673352"/>
            <a:ext cx="2194560" cy="420624"/>
          </a:xfrm>
          <a:prstGeom prst="rect">
            <a:avLst/>
          </a:prstGeom>
          <a:noFill/>
        </p:spPr>
        <p:txBody>
          <a:bodyPr wrap="square" lIns="0" tIns="0" rIns="0" bIns="0" rtlCol="0" anchor="ctr"/>
          <a:lstStyle/>
          <a:p>
            <a:pPr marL="0" indent="0">
              <a:buNone/>
            </a:pPr>
            <a:r>
              <a:rPr lang="en-US" sz="2800" b="1" dirty="0">
                <a:solidFill>
                  <a:srgbClr val="C94C4C"/>
                </a:solidFill>
              </a:rPr>
              <a:t>5.3%</a:t>
            </a:r>
            <a:endParaRPr lang="en-US" sz="2800" dirty="0"/>
          </a:p>
        </p:txBody>
      </p:sp>
      <p:sp>
        <p:nvSpPr>
          <p:cNvPr id="15" name="Text 13"/>
          <p:cNvSpPr/>
          <p:nvPr/>
        </p:nvSpPr>
        <p:spPr>
          <a:xfrm>
            <a:off x="3813048" y="2167128"/>
            <a:ext cx="2194560" cy="384048"/>
          </a:xfrm>
          <a:prstGeom prst="rect">
            <a:avLst/>
          </a:prstGeom>
          <a:noFill/>
        </p:spPr>
        <p:txBody>
          <a:bodyPr wrap="square" lIns="0" tIns="0" rIns="0" bIns="0" rtlCol="0" anchor="ctr">
            <a:normAutofit/>
          </a:bodyPr>
          <a:lstStyle/>
          <a:p>
            <a:pPr marL="0" indent="0">
              <a:buNone/>
            </a:pPr>
            <a:r>
              <a:rPr lang="en-US" sz="1050" dirty="0">
                <a:solidFill>
                  <a:srgbClr val="173B35"/>
                </a:solidFill>
              </a:rPr>
              <a:t>Cancellation rate</a:t>
            </a:r>
            <a:endParaRPr lang="en-US" sz="1050" dirty="0"/>
          </a:p>
        </p:txBody>
      </p:sp>
      <p:sp>
        <p:nvSpPr>
          <p:cNvPr id="16" name="Shape 14"/>
          <p:cNvSpPr/>
          <p:nvPr/>
        </p:nvSpPr>
        <p:spPr>
          <a:xfrm>
            <a:off x="6446520" y="1508760"/>
            <a:ext cx="2560320" cy="1463040"/>
          </a:xfrm>
          <a:prstGeom prst="rect">
            <a:avLst/>
          </a:prstGeom>
          <a:solidFill>
            <a:srgbClr val="FFFFFF"/>
          </a:solidFill>
          <a:ln w="12700">
            <a:solidFill>
              <a:srgbClr val="B8D9D1">
                <a:alpha val="80000"/>
              </a:srgbClr>
            </a:solidFill>
            <a:prstDash val="solid"/>
          </a:ln>
        </p:spPr>
      </p:sp>
      <p:sp>
        <p:nvSpPr>
          <p:cNvPr id="17" name="Shape 15"/>
          <p:cNvSpPr/>
          <p:nvPr/>
        </p:nvSpPr>
        <p:spPr>
          <a:xfrm>
            <a:off x="6446520" y="1508760"/>
            <a:ext cx="73152" cy="1463040"/>
          </a:xfrm>
          <a:prstGeom prst="rect">
            <a:avLst/>
          </a:prstGeom>
          <a:solidFill>
            <a:srgbClr val="28A745"/>
          </a:solidFill>
          <a:ln w="12700">
            <a:solidFill>
              <a:srgbClr val="28A745"/>
            </a:solidFill>
            <a:prstDash val="solid"/>
          </a:ln>
        </p:spPr>
      </p:sp>
      <p:sp>
        <p:nvSpPr>
          <p:cNvPr id="18" name="Text 16"/>
          <p:cNvSpPr/>
          <p:nvPr/>
        </p:nvSpPr>
        <p:spPr>
          <a:xfrm>
            <a:off x="6647688" y="1673352"/>
            <a:ext cx="2194560" cy="420624"/>
          </a:xfrm>
          <a:prstGeom prst="rect">
            <a:avLst/>
          </a:prstGeom>
          <a:noFill/>
        </p:spPr>
        <p:txBody>
          <a:bodyPr wrap="square" lIns="0" tIns="0" rIns="0" bIns="0" rtlCol="0" anchor="ctr"/>
          <a:lstStyle/>
          <a:p>
            <a:pPr marL="0" indent="0">
              <a:buNone/>
            </a:pPr>
            <a:r>
              <a:rPr lang="en-US" sz="2800" b="1" dirty="0">
                <a:solidFill>
                  <a:srgbClr val="28A745"/>
                </a:solidFill>
              </a:rPr>
              <a:t>72.7%</a:t>
            </a:r>
            <a:endParaRPr lang="en-US" sz="2800" dirty="0"/>
          </a:p>
        </p:txBody>
      </p:sp>
      <p:sp>
        <p:nvSpPr>
          <p:cNvPr id="19" name="Text 17"/>
          <p:cNvSpPr/>
          <p:nvPr/>
        </p:nvSpPr>
        <p:spPr>
          <a:xfrm>
            <a:off x="6647688" y="2167128"/>
            <a:ext cx="2194560" cy="384048"/>
          </a:xfrm>
          <a:prstGeom prst="rect">
            <a:avLst/>
          </a:prstGeom>
          <a:noFill/>
        </p:spPr>
        <p:txBody>
          <a:bodyPr wrap="square" lIns="0" tIns="0" rIns="0" bIns="0" rtlCol="0" anchor="ctr">
            <a:normAutofit/>
          </a:bodyPr>
          <a:lstStyle/>
          <a:p>
            <a:pPr marL="0" indent="0">
              <a:buNone/>
            </a:pPr>
            <a:r>
              <a:rPr lang="en-US" sz="1050" dirty="0">
                <a:solidFill>
                  <a:srgbClr val="173B35"/>
                </a:solidFill>
              </a:rPr>
              <a:t>Reminder coverage</a:t>
            </a:r>
            <a:endParaRPr lang="en-US" sz="1050" dirty="0"/>
          </a:p>
        </p:txBody>
      </p:sp>
      <p:sp>
        <p:nvSpPr>
          <p:cNvPr id="20" name="Shape 18"/>
          <p:cNvSpPr/>
          <p:nvPr/>
        </p:nvSpPr>
        <p:spPr>
          <a:xfrm>
            <a:off x="9281160" y="1508760"/>
            <a:ext cx="2560320" cy="1463040"/>
          </a:xfrm>
          <a:prstGeom prst="rect">
            <a:avLst/>
          </a:prstGeom>
          <a:solidFill>
            <a:srgbClr val="FFFFFF"/>
          </a:solidFill>
          <a:ln w="12700">
            <a:solidFill>
              <a:srgbClr val="B8D9D1">
                <a:alpha val="80000"/>
              </a:srgbClr>
            </a:solidFill>
            <a:prstDash val="solid"/>
          </a:ln>
        </p:spPr>
      </p:sp>
      <p:sp>
        <p:nvSpPr>
          <p:cNvPr id="21" name="Shape 19"/>
          <p:cNvSpPr/>
          <p:nvPr/>
        </p:nvSpPr>
        <p:spPr>
          <a:xfrm>
            <a:off x="9281160" y="1508760"/>
            <a:ext cx="73152" cy="1463040"/>
          </a:xfrm>
          <a:prstGeom prst="rect">
            <a:avLst/>
          </a:prstGeom>
          <a:solidFill>
            <a:srgbClr val="F4A261"/>
          </a:solidFill>
          <a:ln w="12700">
            <a:solidFill>
              <a:srgbClr val="F4A261"/>
            </a:solidFill>
            <a:prstDash val="solid"/>
          </a:ln>
        </p:spPr>
      </p:sp>
      <p:sp>
        <p:nvSpPr>
          <p:cNvPr id="22" name="Text 20"/>
          <p:cNvSpPr/>
          <p:nvPr/>
        </p:nvSpPr>
        <p:spPr>
          <a:xfrm>
            <a:off x="9482328" y="1673352"/>
            <a:ext cx="2194560" cy="420624"/>
          </a:xfrm>
          <a:prstGeom prst="rect">
            <a:avLst/>
          </a:prstGeom>
          <a:noFill/>
        </p:spPr>
        <p:txBody>
          <a:bodyPr wrap="square" lIns="0" tIns="0" rIns="0" bIns="0" rtlCol="0" anchor="ctr"/>
          <a:lstStyle/>
          <a:p>
            <a:pPr marL="0" indent="0">
              <a:buNone/>
            </a:pPr>
            <a:r>
              <a:rPr lang="en-US" sz="2800" b="1" dirty="0">
                <a:solidFill>
                  <a:srgbClr val="F4A261"/>
                </a:solidFill>
              </a:rPr>
              <a:t>57.8%</a:t>
            </a:r>
            <a:endParaRPr lang="en-US" sz="2800" dirty="0"/>
          </a:p>
        </p:txBody>
      </p:sp>
      <p:sp>
        <p:nvSpPr>
          <p:cNvPr id="23" name="Text 21"/>
          <p:cNvSpPr/>
          <p:nvPr/>
        </p:nvSpPr>
        <p:spPr>
          <a:xfrm>
            <a:off x="9482328" y="2167128"/>
            <a:ext cx="2194560" cy="384048"/>
          </a:xfrm>
          <a:prstGeom prst="rect">
            <a:avLst/>
          </a:prstGeom>
          <a:noFill/>
        </p:spPr>
        <p:txBody>
          <a:bodyPr wrap="square" lIns="0" tIns="0" rIns="0" bIns="0" rtlCol="0" anchor="ctr">
            <a:normAutofit/>
          </a:bodyPr>
          <a:lstStyle/>
          <a:p>
            <a:pPr marL="0" indent="0">
              <a:buNone/>
            </a:pPr>
            <a:r>
              <a:rPr lang="en-US" sz="1050" dirty="0">
                <a:solidFill>
                  <a:srgbClr val="173B35"/>
                </a:solidFill>
              </a:rPr>
              <a:t>Repeat no-show rate</a:t>
            </a:r>
            <a:endParaRPr lang="en-US" sz="1050" dirty="0"/>
          </a:p>
        </p:txBody>
      </p:sp>
      <p:sp>
        <p:nvSpPr>
          <p:cNvPr id="24" name="Text 22"/>
          <p:cNvSpPr/>
          <p:nvPr/>
        </p:nvSpPr>
        <p:spPr>
          <a:xfrm>
            <a:off x="822960" y="3703320"/>
            <a:ext cx="3200400" cy="320040"/>
          </a:xfrm>
          <a:prstGeom prst="rect">
            <a:avLst/>
          </a:prstGeom>
          <a:noFill/>
        </p:spPr>
        <p:txBody>
          <a:bodyPr wrap="square" lIns="0" tIns="0" rIns="0" bIns="0" rtlCol="0" anchor="ctr"/>
          <a:lstStyle/>
          <a:p>
            <a:pPr marL="0" indent="0">
              <a:buNone/>
            </a:pPr>
            <a:r>
              <a:rPr lang="en-US" sz="2100" b="1" dirty="0">
                <a:solidFill>
                  <a:srgbClr val="173B35"/>
                </a:solidFill>
              </a:rPr>
              <a:t>What these KPIs mean</a:t>
            </a:r>
            <a:endParaRPr lang="en-US" sz="2100" dirty="0"/>
          </a:p>
        </p:txBody>
      </p:sp>
      <p:sp>
        <p:nvSpPr>
          <p:cNvPr id="25" name="Text 23"/>
          <p:cNvSpPr/>
          <p:nvPr/>
        </p:nvSpPr>
        <p:spPr>
          <a:xfrm>
            <a:off x="868680" y="4251960"/>
            <a:ext cx="5029200" cy="1234440"/>
          </a:xfrm>
          <a:prstGeom prst="rect">
            <a:avLst/>
          </a:prstGeom>
          <a:noFill/>
        </p:spPr>
        <p:txBody>
          <a:bodyPr wrap="square" lIns="508" tIns="508" rIns="508" bIns="508" rtlCol="0" anchor="ctr">
            <a:normAutofit/>
          </a:bodyPr>
          <a:lstStyle/>
          <a:p>
            <a:r>
              <a:rPr lang="en-US" sz="1500" dirty="0">
                <a:solidFill>
                  <a:srgbClr val="173B35"/>
                </a:solidFill>
              </a:rPr>
              <a:t>Missed appointments are a major operational issue.</a:t>
            </a:r>
            <a:endParaRPr lang="en-US" sz="1500" dirty="0"/>
          </a:p>
          <a:p>
            <a:r>
              <a:rPr lang="en-US" sz="1500" dirty="0">
                <a:solidFill>
                  <a:srgbClr val="173B35"/>
                </a:solidFill>
              </a:rPr>
              <a:t>Repeat no-show behaviour deserves targeted follow-up.</a:t>
            </a:r>
            <a:endParaRPr lang="en-US" sz="1500" dirty="0"/>
          </a:p>
          <a:p>
            <a:r>
              <a:rPr lang="en-US" sz="1500" dirty="0">
                <a:solidFill>
                  <a:srgbClr val="173B35"/>
                </a:solidFill>
              </a:rPr>
              <a:t>Reminder coverage is an improvement opportunity.</a:t>
            </a:r>
            <a:endParaRPr lang="en-US" sz="1500" dirty="0"/>
          </a:p>
        </p:txBody>
      </p:sp>
      <p:sp>
        <p:nvSpPr>
          <p:cNvPr id="26" name="Shape 24"/>
          <p:cNvSpPr/>
          <p:nvPr/>
        </p:nvSpPr>
        <p:spPr>
          <a:xfrm>
            <a:off x="6629400" y="3794760"/>
            <a:ext cx="0" cy="1737360"/>
          </a:xfrm>
          <a:prstGeom prst="line">
            <a:avLst/>
          </a:prstGeom>
          <a:noFill/>
          <a:ln w="19050">
            <a:solidFill>
              <a:srgbClr val="B8D9D1"/>
            </a:solidFill>
            <a:prstDash val="solid"/>
          </a:ln>
        </p:spPr>
      </p:sp>
      <p:sp>
        <p:nvSpPr>
          <p:cNvPr id="27" name="Text 25"/>
          <p:cNvSpPr/>
          <p:nvPr/>
        </p:nvSpPr>
        <p:spPr>
          <a:xfrm>
            <a:off x="6995160" y="3977640"/>
            <a:ext cx="4114800" cy="914400"/>
          </a:xfrm>
          <a:prstGeom prst="rect">
            <a:avLst/>
          </a:prstGeom>
          <a:noFill/>
        </p:spPr>
        <p:txBody>
          <a:bodyPr wrap="square" lIns="254" tIns="254" rIns="254" bIns="254" rtlCol="0" anchor="ctr">
            <a:normAutofit/>
          </a:bodyPr>
          <a:lstStyle/>
          <a:p>
            <a:pPr marL="0" indent="0">
              <a:buNone/>
            </a:pPr>
            <a:r>
              <a:rPr lang="en-US" sz="2000" b="1" dirty="0">
                <a:solidFill>
                  <a:srgbClr val="0E6B63"/>
                </a:solidFill>
              </a:rPr>
              <a:t>Final KPI set gives HealthConnect a clear baseline for attendance monitoring.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6B63"/>
          </a:solidFill>
          <a:ln w="12700">
            <a:solidFill>
              <a:srgbClr val="0E6B63"/>
            </a:solidFill>
            <a:prstDash val="solid"/>
          </a:ln>
        </p:spPr>
      </p:sp>
      <p:sp>
        <p:nvSpPr>
          <p:cNvPr id="3" name="Shape 1"/>
          <p:cNvSpPr/>
          <p:nvPr/>
        </p:nvSpPr>
        <p:spPr>
          <a:xfrm>
            <a:off x="164592" y="0"/>
            <a:ext cx="54864" cy="6858000"/>
          </a:xfrm>
          <a:prstGeom prst="rect">
            <a:avLst/>
          </a:prstGeom>
          <a:solidFill>
            <a:srgbClr val="28A745"/>
          </a:solidFill>
          <a:ln w="12700">
            <a:solidFill>
              <a:srgbClr val="28A745"/>
            </a:solidFill>
            <a:prstDash val="solid"/>
          </a:ln>
        </p:spPr>
      </p:sp>
      <p:sp>
        <p:nvSpPr>
          <p:cNvPr id="4" name="Text 2"/>
          <p:cNvSpPr/>
          <p:nvPr/>
        </p:nvSpPr>
        <p:spPr>
          <a:xfrm>
            <a:off x="502920" y="6419088"/>
            <a:ext cx="5303520" cy="219456"/>
          </a:xfrm>
          <a:prstGeom prst="rect">
            <a:avLst/>
          </a:prstGeom>
          <a:noFill/>
        </p:spPr>
        <p:txBody>
          <a:bodyPr wrap="square" lIns="0" tIns="0" rIns="0" bIns="0" rtlCol="0" anchor="ctr"/>
          <a:lstStyle/>
          <a:p>
            <a:pPr marL="0" indent="0">
              <a:buNone/>
            </a:pPr>
            <a:r>
              <a:rPr lang="en-US" sz="850" dirty="0">
                <a:solidFill>
                  <a:srgbClr val="65746F"/>
                </a:solidFill>
                <a:latin typeface="Aptos" pitchFamily="34" charset="0"/>
                <a:ea typeface="Aptos" pitchFamily="34" charset="-122"/>
                <a:cs typeface="Aptos" pitchFamily="34" charset="-120"/>
              </a:rPr>
              <a:t>HealthConnect • Data Analytics • Week 8</a:t>
            </a:r>
            <a:endParaRPr lang="en-US" sz="850" dirty="0"/>
          </a:p>
        </p:txBody>
      </p:sp>
      <p:sp>
        <p:nvSpPr>
          <p:cNvPr id="5" name="Text 3"/>
          <p:cNvSpPr/>
          <p:nvPr/>
        </p:nvSpPr>
        <p:spPr>
          <a:xfrm>
            <a:off x="11201400" y="6419088"/>
            <a:ext cx="457200" cy="219456"/>
          </a:xfrm>
          <a:prstGeom prst="rect">
            <a:avLst/>
          </a:prstGeom>
          <a:noFill/>
        </p:spPr>
        <p:txBody>
          <a:bodyPr wrap="square" lIns="0" tIns="0" rIns="0" bIns="0" rtlCol="0" anchor="ctr"/>
          <a:lstStyle/>
          <a:p>
            <a:pPr marL="0" indent="0" algn="r">
              <a:buNone/>
            </a:pPr>
            <a:r>
              <a:rPr lang="en-US" sz="850" dirty="0">
                <a:solidFill>
                  <a:srgbClr val="65746F"/>
                </a:solidFill>
                <a:latin typeface="Aptos" pitchFamily="34" charset="0"/>
                <a:ea typeface="Aptos" pitchFamily="34" charset="-122"/>
                <a:cs typeface="Aptos" pitchFamily="34" charset="-120"/>
              </a:rPr>
              <a:t>4/7</a:t>
            </a:r>
            <a:endParaRPr lang="en-US" sz="850" dirty="0"/>
          </a:p>
        </p:txBody>
      </p:sp>
      <p:sp>
        <p:nvSpPr>
          <p:cNvPr id="6" name="Text 4"/>
          <p:cNvSpPr/>
          <p:nvPr/>
        </p:nvSpPr>
        <p:spPr>
          <a:xfrm>
            <a:off x="594360" y="384048"/>
            <a:ext cx="9784080" cy="457200"/>
          </a:xfrm>
          <a:prstGeom prst="rect">
            <a:avLst/>
          </a:prstGeom>
          <a:noFill/>
        </p:spPr>
        <p:txBody>
          <a:bodyPr wrap="square" lIns="0" tIns="0" rIns="0" bIns="0" rtlCol="0" anchor="ctr"/>
          <a:lstStyle/>
          <a:p>
            <a:pPr marL="0" indent="0">
              <a:buNone/>
            </a:pPr>
            <a:r>
              <a:rPr lang="en-US" sz="2700" b="1" dirty="0">
                <a:solidFill>
                  <a:srgbClr val="173B35"/>
                </a:solidFill>
                <a:latin typeface="Aptos Display" pitchFamily="34" charset="0"/>
                <a:ea typeface="Aptos Display" pitchFamily="34" charset="-122"/>
                <a:cs typeface="Aptos Display" pitchFamily="34" charset="-120"/>
              </a:rPr>
              <a:t>Key Findings &amp; Dashboard Insights</a:t>
            </a:r>
            <a:endParaRPr lang="en-US" sz="2700" dirty="0"/>
          </a:p>
        </p:txBody>
      </p:sp>
      <p:sp>
        <p:nvSpPr>
          <p:cNvPr id="7" name="Text 5"/>
          <p:cNvSpPr/>
          <p:nvPr/>
        </p:nvSpPr>
        <p:spPr>
          <a:xfrm>
            <a:off x="621792" y="896112"/>
            <a:ext cx="8961120" cy="310896"/>
          </a:xfrm>
          <a:prstGeom prst="rect">
            <a:avLst/>
          </a:prstGeom>
          <a:noFill/>
        </p:spPr>
        <p:txBody>
          <a:bodyPr wrap="square" lIns="0" tIns="0" rIns="0" bIns="0" rtlCol="0" anchor="ctr"/>
          <a:lstStyle/>
          <a:p>
            <a:pPr marL="0" indent="0">
              <a:buNone/>
            </a:pPr>
            <a:r>
              <a:rPr lang="en-US" sz="1150" dirty="0">
                <a:solidFill>
                  <a:srgbClr val="65746F"/>
                </a:solidFill>
              </a:rPr>
              <a:t>No-show behaviour should be explored by segment, not only as one total rate</a:t>
            </a:r>
            <a:endParaRPr lang="en-US" sz="1150" dirty="0"/>
          </a:p>
        </p:txBody>
      </p:sp>
      <p:sp>
        <p:nvSpPr>
          <p:cNvPr id="8" name="Text 6"/>
          <p:cNvSpPr/>
          <p:nvPr/>
        </p:nvSpPr>
        <p:spPr>
          <a:xfrm>
            <a:off x="777240" y="1417320"/>
            <a:ext cx="1645920" cy="256032"/>
          </a:xfrm>
          <a:prstGeom prst="rect">
            <a:avLst/>
          </a:prstGeom>
          <a:noFill/>
        </p:spPr>
        <p:txBody>
          <a:bodyPr wrap="square" lIns="0" tIns="0" rIns="0" bIns="0" rtlCol="0" anchor="ctr"/>
          <a:lstStyle/>
          <a:p>
            <a:pPr marL="0" indent="0">
              <a:buNone/>
            </a:pPr>
            <a:r>
              <a:rPr lang="en-US" sz="1100" b="1" dirty="0">
                <a:solidFill>
                  <a:srgbClr val="28A745"/>
                </a:solidFill>
              </a:rPr>
              <a:t>Key insight</a:t>
            </a:r>
            <a:endParaRPr lang="en-US" sz="1100" dirty="0"/>
          </a:p>
        </p:txBody>
      </p:sp>
      <p:sp>
        <p:nvSpPr>
          <p:cNvPr id="9" name="Text 7"/>
          <p:cNvSpPr/>
          <p:nvPr/>
        </p:nvSpPr>
        <p:spPr>
          <a:xfrm>
            <a:off x="777240" y="1737360"/>
            <a:ext cx="5669280" cy="457200"/>
          </a:xfrm>
          <a:prstGeom prst="rect">
            <a:avLst/>
          </a:prstGeom>
          <a:noFill/>
        </p:spPr>
        <p:txBody>
          <a:bodyPr wrap="square" lIns="0" tIns="0" rIns="0" bIns="0" rtlCol="0" anchor="ctr">
            <a:normAutofit/>
          </a:bodyPr>
          <a:lstStyle/>
          <a:p>
            <a:pPr marL="0" indent="0">
              <a:buNone/>
            </a:pPr>
            <a:r>
              <a:rPr lang="en-US" sz="2800" b="1" dirty="0">
                <a:solidFill>
                  <a:srgbClr val="173B35"/>
                </a:solidFill>
              </a:rPr>
              <a:t>Missed appointments are not one single problem.</a:t>
            </a:r>
            <a:endParaRPr lang="en-US" sz="2800" dirty="0"/>
          </a:p>
        </p:txBody>
      </p:sp>
      <p:sp>
        <p:nvSpPr>
          <p:cNvPr id="10" name="Text 8"/>
          <p:cNvSpPr/>
          <p:nvPr/>
        </p:nvSpPr>
        <p:spPr>
          <a:xfrm>
            <a:off x="822960" y="2423160"/>
            <a:ext cx="5394960" cy="594360"/>
          </a:xfrm>
          <a:prstGeom prst="rect">
            <a:avLst/>
          </a:prstGeom>
          <a:noFill/>
        </p:spPr>
        <p:txBody>
          <a:bodyPr wrap="square" lIns="0" tIns="0" rIns="0" bIns="0" rtlCol="0" anchor="ctr">
            <a:normAutofit/>
          </a:bodyPr>
          <a:lstStyle/>
          <a:p>
            <a:pPr marL="0" indent="0">
              <a:buNone/>
            </a:pPr>
            <a:r>
              <a:rPr lang="en-US" sz="1600" dirty="0">
                <a:solidFill>
                  <a:srgbClr val="65746F"/>
                </a:solidFill>
              </a:rPr>
              <a:t>The dashboard helps decision-makers inspect attendance patterns by period and appointment type.</a:t>
            </a:r>
            <a:endParaRPr lang="en-US" sz="1600" dirty="0"/>
          </a:p>
        </p:txBody>
      </p:sp>
      <p:sp>
        <p:nvSpPr>
          <p:cNvPr id="11" name="Shape 9"/>
          <p:cNvSpPr/>
          <p:nvPr/>
        </p:nvSpPr>
        <p:spPr>
          <a:xfrm>
            <a:off x="868680" y="3337560"/>
            <a:ext cx="109728" cy="164592"/>
          </a:xfrm>
          <a:prstGeom prst="rect">
            <a:avLst/>
          </a:prstGeom>
          <a:solidFill>
            <a:srgbClr val="0E6B63"/>
          </a:solidFill>
          <a:ln w="12700">
            <a:solidFill>
              <a:srgbClr val="0E6B63"/>
            </a:solidFill>
            <a:prstDash val="solid"/>
          </a:ln>
        </p:spPr>
      </p:sp>
      <p:sp>
        <p:nvSpPr>
          <p:cNvPr id="12" name="Text 10"/>
          <p:cNvSpPr/>
          <p:nvPr/>
        </p:nvSpPr>
        <p:spPr>
          <a:xfrm>
            <a:off x="1097280" y="3291840"/>
            <a:ext cx="2468880" cy="246888"/>
          </a:xfrm>
          <a:prstGeom prst="rect">
            <a:avLst/>
          </a:prstGeom>
          <a:noFill/>
        </p:spPr>
        <p:txBody>
          <a:bodyPr wrap="square" lIns="0" tIns="0" rIns="0" bIns="0" rtlCol="0" anchor="ctr">
            <a:normAutofit/>
          </a:bodyPr>
          <a:lstStyle/>
          <a:p>
            <a:pPr marL="0" indent="0">
              <a:buNone/>
            </a:pPr>
            <a:r>
              <a:rPr lang="en-US" sz="1260" b="1" dirty="0">
                <a:solidFill>
                  <a:srgbClr val="173B35"/>
                </a:solidFill>
              </a:rPr>
              <a:t>Previous no-show history</a:t>
            </a:r>
            <a:endParaRPr lang="en-US" sz="1260" dirty="0"/>
          </a:p>
        </p:txBody>
      </p:sp>
      <p:sp>
        <p:nvSpPr>
          <p:cNvPr id="13" name="Text 11"/>
          <p:cNvSpPr/>
          <p:nvPr/>
        </p:nvSpPr>
        <p:spPr>
          <a:xfrm>
            <a:off x="4160520" y="3291840"/>
            <a:ext cx="1645920" cy="246888"/>
          </a:xfrm>
          <a:prstGeom prst="rect">
            <a:avLst/>
          </a:prstGeom>
          <a:noFill/>
        </p:spPr>
        <p:txBody>
          <a:bodyPr wrap="square" lIns="0" tIns="0" rIns="0" bIns="0" rtlCol="0" anchor="ctr">
            <a:normAutofit/>
          </a:bodyPr>
          <a:lstStyle/>
          <a:p>
            <a:pPr marL="0" indent="0">
              <a:buNone/>
            </a:pPr>
            <a:r>
              <a:rPr lang="en-US" sz="1150" dirty="0">
                <a:solidFill>
                  <a:srgbClr val="65746F"/>
                </a:solidFill>
              </a:rPr>
              <a:t>repeat-risk signal</a:t>
            </a:r>
            <a:endParaRPr lang="en-US" sz="1150" dirty="0"/>
          </a:p>
        </p:txBody>
      </p:sp>
      <p:sp>
        <p:nvSpPr>
          <p:cNvPr id="14" name="Shape 12"/>
          <p:cNvSpPr/>
          <p:nvPr/>
        </p:nvSpPr>
        <p:spPr>
          <a:xfrm>
            <a:off x="868680" y="3730752"/>
            <a:ext cx="109728" cy="164592"/>
          </a:xfrm>
          <a:prstGeom prst="rect">
            <a:avLst/>
          </a:prstGeom>
          <a:solidFill>
            <a:srgbClr val="28A745"/>
          </a:solidFill>
          <a:ln w="12700">
            <a:solidFill>
              <a:srgbClr val="28A745"/>
            </a:solidFill>
            <a:prstDash val="solid"/>
          </a:ln>
        </p:spPr>
      </p:sp>
      <p:sp>
        <p:nvSpPr>
          <p:cNvPr id="15" name="Text 13"/>
          <p:cNvSpPr/>
          <p:nvPr/>
        </p:nvSpPr>
        <p:spPr>
          <a:xfrm>
            <a:off x="1097280" y="3685032"/>
            <a:ext cx="2468880" cy="246888"/>
          </a:xfrm>
          <a:prstGeom prst="rect">
            <a:avLst/>
          </a:prstGeom>
          <a:noFill/>
        </p:spPr>
        <p:txBody>
          <a:bodyPr wrap="square" lIns="0" tIns="0" rIns="0" bIns="0" rtlCol="0" anchor="ctr">
            <a:normAutofit/>
          </a:bodyPr>
          <a:lstStyle/>
          <a:p>
            <a:pPr marL="0" indent="0">
              <a:buNone/>
            </a:pPr>
            <a:r>
              <a:rPr lang="en-US" sz="1260" b="1" dirty="0">
                <a:solidFill>
                  <a:srgbClr val="173B35"/>
                </a:solidFill>
              </a:rPr>
              <a:t>Booking lead time</a:t>
            </a:r>
            <a:endParaRPr lang="en-US" sz="1260" dirty="0"/>
          </a:p>
        </p:txBody>
      </p:sp>
      <p:sp>
        <p:nvSpPr>
          <p:cNvPr id="16" name="Text 14"/>
          <p:cNvSpPr/>
          <p:nvPr/>
        </p:nvSpPr>
        <p:spPr>
          <a:xfrm>
            <a:off x="4160520" y="3685032"/>
            <a:ext cx="1645920" cy="246888"/>
          </a:xfrm>
          <a:prstGeom prst="rect">
            <a:avLst/>
          </a:prstGeom>
          <a:noFill/>
        </p:spPr>
        <p:txBody>
          <a:bodyPr wrap="square" lIns="0" tIns="0" rIns="0" bIns="0" rtlCol="0" anchor="ctr">
            <a:normAutofit/>
          </a:bodyPr>
          <a:lstStyle/>
          <a:p>
            <a:pPr marL="0" indent="0">
              <a:buNone/>
            </a:pPr>
            <a:r>
              <a:rPr lang="en-US" sz="1150" dirty="0">
                <a:solidFill>
                  <a:srgbClr val="65746F"/>
                </a:solidFill>
              </a:rPr>
              <a:t>timing gap</a:t>
            </a:r>
            <a:endParaRPr lang="en-US" sz="1150" dirty="0"/>
          </a:p>
        </p:txBody>
      </p:sp>
      <p:sp>
        <p:nvSpPr>
          <p:cNvPr id="17" name="Shape 15"/>
          <p:cNvSpPr/>
          <p:nvPr/>
        </p:nvSpPr>
        <p:spPr>
          <a:xfrm>
            <a:off x="868680" y="4123944"/>
            <a:ext cx="109728" cy="164592"/>
          </a:xfrm>
          <a:prstGeom prst="rect">
            <a:avLst/>
          </a:prstGeom>
          <a:solidFill>
            <a:srgbClr val="0E6B63"/>
          </a:solidFill>
          <a:ln w="12700">
            <a:solidFill>
              <a:srgbClr val="0E6B63"/>
            </a:solidFill>
            <a:prstDash val="solid"/>
          </a:ln>
        </p:spPr>
      </p:sp>
      <p:sp>
        <p:nvSpPr>
          <p:cNvPr id="18" name="Text 16"/>
          <p:cNvSpPr/>
          <p:nvPr/>
        </p:nvSpPr>
        <p:spPr>
          <a:xfrm>
            <a:off x="1097280" y="4078224"/>
            <a:ext cx="2468880" cy="246888"/>
          </a:xfrm>
          <a:prstGeom prst="rect">
            <a:avLst/>
          </a:prstGeom>
          <a:noFill/>
        </p:spPr>
        <p:txBody>
          <a:bodyPr wrap="square" lIns="0" tIns="0" rIns="0" bIns="0" rtlCol="0" anchor="ctr">
            <a:normAutofit/>
          </a:bodyPr>
          <a:lstStyle/>
          <a:p>
            <a:pPr marL="0" indent="0">
              <a:buNone/>
            </a:pPr>
            <a:r>
              <a:rPr lang="en-US" sz="1260" b="1" dirty="0">
                <a:solidFill>
                  <a:srgbClr val="173B35"/>
                </a:solidFill>
              </a:rPr>
              <a:t>Reminder status</a:t>
            </a:r>
            <a:endParaRPr lang="en-US" sz="1260" dirty="0"/>
          </a:p>
        </p:txBody>
      </p:sp>
      <p:sp>
        <p:nvSpPr>
          <p:cNvPr id="19" name="Text 17"/>
          <p:cNvSpPr/>
          <p:nvPr/>
        </p:nvSpPr>
        <p:spPr>
          <a:xfrm>
            <a:off x="4160520" y="4078224"/>
            <a:ext cx="1645920" cy="246888"/>
          </a:xfrm>
          <a:prstGeom prst="rect">
            <a:avLst/>
          </a:prstGeom>
          <a:noFill/>
        </p:spPr>
        <p:txBody>
          <a:bodyPr wrap="square" lIns="0" tIns="0" rIns="0" bIns="0" rtlCol="0" anchor="ctr">
            <a:normAutofit/>
          </a:bodyPr>
          <a:lstStyle/>
          <a:p>
            <a:pPr marL="0" indent="0">
              <a:buNone/>
            </a:pPr>
            <a:r>
              <a:rPr lang="en-US" sz="1150" dirty="0">
                <a:solidFill>
                  <a:srgbClr val="65746F"/>
                </a:solidFill>
              </a:rPr>
              <a:t>process coverage</a:t>
            </a:r>
            <a:endParaRPr lang="en-US" sz="1150" dirty="0"/>
          </a:p>
        </p:txBody>
      </p:sp>
      <p:sp>
        <p:nvSpPr>
          <p:cNvPr id="20" name="Shape 18"/>
          <p:cNvSpPr/>
          <p:nvPr/>
        </p:nvSpPr>
        <p:spPr>
          <a:xfrm>
            <a:off x="868680" y="4517136"/>
            <a:ext cx="109728" cy="164592"/>
          </a:xfrm>
          <a:prstGeom prst="rect">
            <a:avLst/>
          </a:prstGeom>
          <a:solidFill>
            <a:srgbClr val="28A745"/>
          </a:solidFill>
          <a:ln w="12700">
            <a:solidFill>
              <a:srgbClr val="28A745"/>
            </a:solidFill>
            <a:prstDash val="solid"/>
          </a:ln>
        </p:spPr>
      </p:sp>
      <p:sp>
        <p:nvSpPr>
          <p:cNvPr id="21" name="Text 19"/>
          <p:cNvSpPr/>
          <p:nvPr/>
        </p:nvSpPr>
        <p:spPr>
          <a:xfrm>
            <a:off x="1097280" y="4471416"/>
            <a:ext cx="2468880" cy="246888"/>
          </a:xfrm>
          <a:prstGeom prst="rect">
            <a:avLst/>
          </a:prstGeom>
          <a:noFill/>
        </p:spPr>
        <p:txBody>
          <a:bodyPr wrap="square" lIns="0" tIns="0" rIns="0" bIns="0" rtlCol="0" anchor="ctr">
            <a:normAutofit/>
          </a:bodyPr>
          <a:lstStyle/>
          <a:p>
            <a:pPr marL="0" indent="0">
              <a:buNone/>
            </a:pPr>
            <a:r>
              <a:rPr lang="en-US" sz="1260" b="1" dirty="0">
                <a:solidFill>
                  <a:srgbClr val="173B35"/>
                </a:solidFill>
              </a:rPr>
              <a:t>Appointment time</a:t>
            </a:r>
            <a:endParaRPr lang="en-US" sz="1260" dirty="0"/>
          </a:p>
        </p:txBody>
      </p:sp>
      <p:sp>
        <p:nvSpPr>
          <p:cNvPr id="22" name="Text 20"/>
          <p:cNvSpPr/>
          <p:nvPr/>
        </p:nvSpPr>
        <p:spPr>
          <a:xfrm>
            <a:off x="4160520" y="4471416"/>
            <a:ext cx="1645920" cy="246888"/>
          </a:xfrm>
          <a:prstGeom prst="rect">
            <a:avLst/>
          </a:prstGeom>
          <a:noFill/>
        </p:spPr>
        <p:txBody>
          <a:bodyPr wrap="square" lIns="0" tIns="0" rIns="0" bIns="0" rtlCol="0" anchor="ctr">
            <a:normAutofit/>
          </a:bodyPr>
          <a:lstStyle/>
          <a:p>
            <a:pPr marL="0" indent="0">
              <a:buNone/>
            </a:pPr>
            <a:r>
              <a:rPr lang="en-US" sz="1150" dirty="0">
                <a:solidFill>
                  <a:srgbClr val="65746F"/>
                </a:solidFill>
              </a:rPr>
              <a:t>operational timing</a:t>
            </a:r>
            <a:endParaRPr lang="en-US" sz="1150" dirty="0"/>
          </a:p>
        </p:txBody>
      </p:sp>
      <p:sp>
        <p:nvSpPr>
          <p:cNvPr id="23" name="Shape 21"/>
          <p:cNvSpPr/>
          <p:nvPr/>
        </p:nvSpPr>
        <p:spPr>
          <a:xfrm>
            <a:off x="868680" y="4910328"/>
            <a:ext cx="109728" cy="164592"/>
          </a:xfrm>
          <a:prstGeom prst="rect">
            <a:avLst/>
          </a:prstGeom>
          <a:solidFill>
            <a:srgbClr val="0E6B63"/>
          </a:solidFill>
          <a:ln w="12700">
            <a:solidFill>
              <a:srgbClr val="0E6B63"/>
            </a:solidFill>
            <a:prstDash val="solid"/>
          </a:ln>
        </p:spPr>
      </p:sp>
      <p:sp>
        <p:nvSpPr>
          <p:cNvPr id="24" name="Text 22"/>
          <p:cNvSpPr/>
          <p:nvPr/>
        </p:nvSpPr>
        <p:spPr>
          <a:xfrm>
            <a:off x="1097280" y="4864608"/>
            <a:ext cx="2468880" cy="246888"/>
          </a:xfrm>
          <a:prstGeom prst="rect">
            <a:avLst/>
          </a:prstGeom>
          <a:noFill/>
        </p:spPr>
        <p:txBody>
          <a:bodyPr wrap="square" lIns="0" tIns="0" rIns="0" bIns="0" rtlCol="0" anchor="ctr">
            <a:normAutofit/>
          </a:bodyPr>
          <a:lstStyle/>
          <a:p>
            <a:pPr marL="0" indent="0">
              <a:buNone/>
            </a:pPr>
            <a:r>
              <a:rPr lang="en-US" sz="1260" b="1" dirty="0">
                <a:solidFill>
                  <a:srgbClr val="173B35"/>
                </a:solidFill>
              </a:rPr>
              <a:t>Appointment type</a:t>
            </a:r>
            <a:endParaRPr lang="en-US" sz="1260" dirty="0"/>
          </a:p>
        </p:txBody>
      </p:sp>
      <p:sp>
        <p:nvSpPr>
          <p:cNvPr id="25" name="Text 23"/>
          <p:cNvSpPr/>
          <p:nvPr/>
        </p:nvSpPr>
        <p:spPr>
          <a:xfrm>
            <a:off x="4160520" y="4864608"/>
            <a:ext cx="1645920" cy="246888"/>
          </a:xfrm>
          <a:prstGeom prst="rect">
            <a:avLst/>
          </a:prstGeom>
          <a:noFill/>
        </p:spPr>
        <p:txBody>
          <a:bodyPr wrap="square" lIns="0" tIns="0" rIns="0" bIns="0" rtlCol="0" anchor="ctr">
            <a:normAutofit/>
          </a:bodyPr>
          <a:lstStyle/>
          <a:p>
            <a:pPr marL="0" indent="0">
              <a:buNone/>
            </a:pPr>
            <a:r>
              <a:rPr lang="en-US" sz="1150" dirty="0">
                <a:solidFill>
                  <a:srgbClr val="65746F"/>
                </a:solidFill>
              </a:rPr>
              <a:t>service segmentation</a:t>
            </a:r>
            <a:endParaRPr lang="en-US" sz="1150" dirty="0"/>
          </a:p>
        </p:txBody>
      </p:sp>
      <p:sp>
        <p:nvSpPr>
          <p:cNvPr id="26" name="Shape 24"/>
          <p:cNvSpPr/>
          <p:nvPr/>
        </p:nvSpPr>
        <p:spPr>
          <a:xfrm>
            <a:off x="6812280" y="1508760"/>
            <a:ext cx="4206240" cy="3566160"/>
          </a:xfrm>
          <a:prstGeom prst="roundRect">
            <a:avLst>
              <a:gd name="adj" fmla="val 2051"/>
            </a:avLst>
          </a:prstGeom>
          <a:solidFill>
            <a:srgbClr val="FFFFFF"/>
          </a:solidFill>
          <a:ln w="12700">
            <a:solidFill>
              <a:srgbClr val="B8D9D1"/>
            </a:solidFill>
            <a:prstDash val="solid"/>
          </a:ln>
        </p:spPr>
      </p:sp>
      <p:sp>
        <p:nvSpPr>
          <p:cNvPr id="27" name="Text 25"/>
          <p:cNvSpPr/>
          <p:nvPr/>
        </p:nvSpPr>
        <p:spPr>
          <a:xfrm>
            <a:off x="7178040" y="1828800"/>
            <a:ext cx="3291840" cy="320040"/>
          </a:xfrm>
          <a:prstGeom prst="rect">
            <a:avLst/>
          </a:prstGeom>
          <a:noFill/>
        </p:spPr>
        <p:txBody>
          <a:bodyPr wrap="square" lIns="0" tIns="0" rIns="0" bIns="0" rtlCol="0" anchor="ctr"/>
          <a:lstStyle/>
          <a:p>
            <a:pPr marL="0" indent="0">
              <a:buNone/>
            </a:pPr>
            <a:r>
              <a:rPr lang="en-US" sz="1800" b="1" dirty="0">
                <a:solidFill>
                  <a:srgbClr val="173B35"/>
                </a:solidFill>
              </a:rPr>
              <a:t>Dashboard exploration</a:t>
            </a:r>
            <a:endParaRPr lang="en-US" sz="1800" dirty="0"/>
          </a:p>
        </p:txBody>
      </p:sp>
      <p:sp>
        <p:nvSpPr>
          <p:cNvPr id="28" name="Shape 26"/>
          <p:cNvSpPr/>
          <p:nvPr/>
        </p:nvSpPr>
        <p:spPr>
          <a:xfrm>
            <a:off x="7178040" y="2423160"/>
            <a:ext cx="1645920" cy="347472"/>
          </a:xfrm>
          <a:prstGeom prst="roundRect">
            <a:avLst>
              <a:gd name="adj" fmla="val 21053"/>
            </a:avLst>
          </a:prstGeom>
          <a:solidFill>
            <a:srgbClr val="DDF2EA"/>
          </a:solidFill>
          <a:ln w="12700">
            <a:solidFill>
              <a:srgbClr val="DDF2EA"/>
            </a:solidFill>
            <a:prstDash val="solid"/>
          </a:ln>
        </p:spPr>
      </p:sp>
      <p:sp>
        <p:nvSpPr>
          <p:cNvPr id="29" name="Text 27"/>
          <p:cNvSpPr/>
          <p:nvPr/>
        </p:nvSpPr>
        <p:spPr>
          <a:xfrm>
            <a:off x="7269480" y="2510028"/>
            <a:ext cx="1463040" cy="155448"/>
          </a:xfrm>
          <a:prstGeom prst="rect">
            <a:avLst/>
          </a:prstGeom>
          <a:noFill/>
        </p:spPr>
        <p:txBody>
          <a:bodyPr wrap="square" lIns="0" tIns="0" rIns="0" bIns="0" rtlCol="0" anchor="ctr"/>
          <a:lstStyle/>
          <a:p>
            <a:pPr marL="0" indent="0" algn="ctr">
              <a:buNone/>
            </a:pPr>
            <a:r>
              <a:rPr lang="en-US" sz="950" b="1" dirty="0">
                <a:solidFill>
                  <a:srgbClr val="0E6B63"/>
                </a:solidFill>
              </a:rPr>
              <a:t>Year-Month</a:t>
            </a:r>
            <a:endParaRPr lang="en-US" sz="950" dirty="0"/>
          </a:p>
        </p:txBody>
      </p:sp>
      <p:sp>
        <p:nvSpPr>
          <p:cNvPr id="30" name="Shape 28"/>
          <p:cNvSpPr/>
          <p:nvPr/>
        </p:nvSpPr>
        <p:spPr>
          <a:xfrm>
            <a:off x="9006840" y="2423160"/>
            <a:ext cx="1828800" cy="347472"/>
          </a:xfrm>
          <a:prstGeom prst="roundRect">
            <a:avLst>
              <a:gd name="adj" fmla="val 21053"/>
            </a:avLst>
          </a:prstGeom>
          <a:solidFill>
            <a:srgbClr val="DDF2EA"/>
          </a:solidFill>
          <a:ln w="12700">
            <a:solidFill>
              <a:srgbClr val="DDF2EA"/>
            </a:solidFill>
            <a:prstDash val="solid"/>
          </a:ln>
        </p:spPr>
      </p:sp>
      <p:sp>
        <p:nvSpPr>
          <p:cNvPr id="31" name="Text 29"/>
          <p:cNvSpPr/>
          <p:nvPr/>
        </p:nvSpPr>
        <p:spPr>
          <a:xfrm>
            <a:off x="9098280" y="2510028"/>
            <a:ext cx="1645920" cy="155448"/>
          </a:xfrm>
          <a:prstGeom prst="rect">
            <a:avLst/>
          </a:prstGeom>
          <a:noFill/>
        </p:spPr>
        <p:txBody>
          <a:bodyPr wrap="square" lIns="0" tIns="0" rIns="0" bIns="0" rtlCol="0" anchor="ctr"/>
          <a:lstStyle/>
          <a:p>
            <a:pPr marL="0" indent="0" algn="ctr">
              <a:buNone/>
            </a:pPr>
            <a:r>
              <a:rPr lang="en-US" sz="950" b="1" dirty="0">
                <a:solidFill>
                  <a:srgbClr val="0E6B63"/>
                </a:solidFill>
              </a:rPr>
              <a:t>Appointment Type</a:t>
            </a:r>
            <a:endParaRPr lang="en-US" sz="950" dirty="0"/>
          </a:p>
        </p:txBody>
      </p:sp>
      <p:sp>
        <p:nvSpPr>
          <p:cNvPr id="32" name="Shape 30"/>
          <p:cNvSpPr/>
          <p:nvPr/>
        </p:nvSpPr>
        <p:spPr>
          <a:xfrm>
            <a:off x="7909560" y="3246120"/>
            <a:ext cx="1783080" cy="0"/>
          </a:xfrm>
          <a:prstGeom prst="line">
            <a:avLst/>
          </a:prstGeom>
          <a:noFill/>
          <a:ln w="25400">
            <a:solidFill>
              <a:srgbClr val="0E6B63"/>
            </a:solidFill>
            <a:prstDash val="solid"/>
            <a:tailEnd type="triangle"/>
          </a:ln>
        </p:spPr>
      </p:sp>
      <p:sp>
        <p:nvSpPr>
          <p:cNvPr id="33" name="Text 31"/>
          <p:cNvSpPr/>
          <p:nvPr/>
        </p:nvSpPr>
        <p:spPr>
          <a:xfrm>
            <a:off x="7406640" y="3703320"/>
            <a:ext cx="2926080" cy="274320"/>
          </a:xfrm>
          <a:prstGeom prst="rect">
            <a:avLst/>
          </a:prstGeom>
          <a:noFill/>
        </p:spPr>
        <p:txBody>
          <a:bodyPr wrap="square" lIns="0" tIns="0" rIns="0" bIns="0" rtlCol="0" anchor="ctr"/>
          <a:lstStyle/>
          <a:p>
            <a:pPr marL="0" indent="0" algn="ctr">
              <a:buNone/>
            </a:pPr>
            <a:r>
              <a:rPr lang="en-US" sz="1600" b="1" dirty="0">
                <a:solidFill>
                  <a:srgbClr val="0E6B63"/>
                </a:solidFill>
              </a:rPr>
              <a:t>Segmented view</a:t>
            </a:r>
            <a:endParaRPr lang="en-US" sz="1600" dirty="0"/>
          </a:p>
        </p:txBody>
      </p:sp>
      <p:sp>
        <p:nvSpPr>
          <p:cNvPr id="34" name="Text 32"/>
          <p:cNvSpPr/>
          <p:nvPr/>
        </p:nvSpPr>
        <p:spPr>
          <a:xfrm>
            <a:off x="7360920" y="4069080"/>
            <a:ext cx="3063240" cy="502920"/>
          </a:xfrm>
          <a:prstGeom prst="rect">
            <a:avLst/>
          </a:prstGeom>
          <a:noFill/>
        </p:spPr>
        <p:txBody>
          <a:bodyPr wrap="square" lIns="0" tIns="0" rIns="0" bIns="0" rtlCol="0" anchor="ctr">
            <a:normAutofit/>
          </a:bodyPr>
          <a:lstStyle/>
          <a:p>
            <a:pPr marL="0" indent="0" algn="ctr">
              <a:buNone/>
            </a:pPr>
            <a:r>
              <a:rPr lang="en-US" sz="1250" dirty="0">
                <a:solidFill>
                  <a:srgbClr val="65746F"/>
                </a:solidFill>
              </a:rPr>
              <a:t>Better questions:</a:t>
            </a:r>
            <a:endParaRPr lang="en-US" sz="1250" dirty="0"/>
          </a:p>
          <a:p>
            <a:pPr marL="0" indent="0" algn="ctr">
              <a:buNone/>
            </a:pPr>
            <a:r>
              <a:rPr lang="en-US" sz="1250" dirty="0">
                <a:solidFill>
                  <a:srgbClr val="65746F"/>
                </a:solidFill>
              </a:rPr>
              <a:t>Which month? Which appointment type? Which driver?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6B63"/>
          </a:solidFill>
          <a:ln w="12700">
            <a:solidFill>
              <a:srgbClr val="0E6B63"/>
            </a:solidFill>
            <a:prstDash val="solid"/>
          </a:ln>
        </p:spPr>
      </p:sp>
      <p:sp>
        <p:nvSpPr>
          <p:cNvPr id="3" name="Shape 1"/>
          <p:cNvSpPr/>
          <p:nvPr/>
        </p:nvSpPr>
        <p:spPr>
          <a:xfrm>
            <a:off x="164592" y="0"/>
            <a:ext cx="54864" cy="6858000"/>
          </a:xfrm>
          <a:prstGeom prst="rect">
            <a:avLst/>
          </a:prstGeom>
          <a:solidFill>
            <a:srgbClr val="28A745"/>
          </a:solidFill>
          <a:ln w="12700">
            <a:solidFill>
              <a:srgbClr val="28A745"/>
            </a:solidFill>
            <a:prstDash val="solid"/>
          </a:ln>
        </p:spPr>
      </p:sp>
      <p:sp>
        <p:nvSpPr>
          <p:cNvPr id="4" name="Text 2"/>
          <p:cNvSpPr/>
          <p:nvPr/>
        </p:nvSpPr>
        <p:spPr>
          <a:xfrm>
            <a:off x="502920" y="6419088"/>
            <a:ext cx="5303520" cy="219456"/>
          </a:xfrm>
          <a:prstGeom prst="rect">
            <a:avLst/>
          </a:prstGeom>
          <a:noFill/>
        </p:spPr>
        <p:txBody>
          <a:bodyPr wrap="square" lIns="0" tIns="0" rIns="0" bIns="0" rtlCol="0" anchor="ctr"/>
          <a:lstStyle/>
          <a:p>
            <a:pPr marL="0" indent="0">
              <a:buNone/>
            </a:pPr>
            <a:r>
              <a:rPr lang="en-US" sz="850" dirty="0">
                <a:solidFill>
                  <a:srgbClr val="65746F"/>
                </a:solidFill>
                <a:latin typeface="Aptos" pitchFamily="34" charset="0"/>
                <a:ea typeface="Aptos" pitchFamily="34" charset="-122"/>
                <a:cs typeface="Aptos" pitchFamily="34" charset="-120"/>
              </a:rPr>
              <a:t>HealthConnect • Data Analytics • Week 8</a:t>
            </a:r>
            <a:endParaRPr lang="en-US" sz="850" dirty="0"/>
          </a:p>
        </p:txBody>
      </p:sp>
      <p:sp>
        <p:nvSpPr>
          <p:cNvPr id="5" name="Text 3"/>
          <p:cNvSpPr/>
          <p:nvPr/>
        </p:nvSpPr>
        <p:spPr>
          <a:xfrm>
            <a:off x="11201400" y="6419088"/>
            <a:ext cx="457200" cy="219456"/>
          </a:xfrm>
          <a:prstGeom prst="rect">
            <a:avLst/>
          </a:prstGeom>
          <a:noFill/>
        </p:spPr>
        <p:txBody>
          <a:bodyPr wrap="square" lIns="0" tIns="0" rIns="0" bIns="0" rtlCol="0" anchor="ctr"/>
          <a:lstStyle/>
          <a:p>
            <a:pPr marL="0" indent="0" algn="r">
              <a:buNone/>
            </a:pPr>
            <a:r>
              <a:rPr lang="en-US" sz="850" dirty="0">
                <a:solidFill>
                  <a:srgbClr val="65746F"/>
                </a:solidFill>
                <a:latin typeface="Aptos" pitchFamily="34" charset="0"/>
                <a:ea typeface="Aptos" pitchFamily="34" charset="-122"/>
                <a:cs typeface="Aptos" pitchFamily="34" charset="-120"/>
              </a:rPr>
              <a:t>5/7</a:t>
            </a:r>
            <a:endParaRPr lang="en-US" sz="850" dirty="0"/>
          </a:p>
        </p:txBody>
      </p:sp>
      <p:sp>
        <p:nvSpPr>
          <p:cNvPr id="6" name="Text 4"/>
          <p:cNvSpPr/>
          <p:nvPr/>
        </p:nvSpPr>
        <p:spPr>
          <a:xfrm>
            <a:off x="594360" y="384048"/>
            <a:ext cx="9784080" cy="457200"/>
          </a:xfrm>
          <a:prstGeom prst="rect">
            <a:avLst/>
          </a:prstGeom>
          <a:noFill/>
        </p:spPr>
        <p:txBody>
          <a:bodyPr wrap="square" lIns="0" tIns="0" rIns="0" bIns="0" rtlCol="0" anchor="ctr"/>
          <a:lstStyle/>
          <a:p>
            <a:pPr marL="0" indent="0">
              <a:buNone/>
            </a:pPr>
            <a:r>
              <a:rPr lang="en-US" sz="2700" b="1" dirty="0">
                <a:solidFill>
                  <a:srgbClr val="173B35"/>
                </a:solidFill>
                <a:latin typeface="Aptos Display" pitchFamily="34" charset="0"/>
                <a:ea typeface="Aptos Display" pitchFamily="34" charset="-122"/>
                <a:cs typeface="Aptos Display" pitchFamily="34" charset="-120"/>
              </a:rPr>
              <a:t>Testing, Refinement &amp; Recommendations</a:t>
            </a:r>
            <a:endParaRPr lang="en-US" sz="2700" dirty="0"/>
          </a:p>
        </p:txBody>
      </p:sp>
      <p:sp>
        <p:nvSpPr>
          <p:cNvPr id="7" name="Text 5"/>
          <p:cNvSpPr/>
          <p:nvPr/>
        </p:nvSpPr>
        <p:spPr>
          <a:xfrm>
            <a:off x="621792" y="896112"/>
            <a:ext cx="8961120" cy="310896"/>
          </a:xfrm>
          <a:prstGeom prst="rect">
            <a:avLst/>
          </a:prstGeom>
          <a:noFill/>
        </p:spPr>
        <p:txBody>
          <a:bodyPr wrap="square" lIns="0" tIns="0" rIns="0" bIns="0" rtlCol="0" anchor="ctr"/>
          <a:lstStyle/>
          <a:p>
            <a:pPr marL="0" indent="0">
              <a:buNone/>
            </a:pPr>
            <a:r>
              <a:rPr lang="en-US" sz="1150" dirty="0">
                <a:solidFill>
                  <a:srgbClr val="65746F"/>
                </a:solidFill>
              </a:rPr>
              <a:t>Validated the dashboard and translated findings into action</a:t>
            </a:r>
            <a:endParaRPr lang="en-US" sz="1150" dirty="0"/>
          </a:p>
        </p:txBody>
      </p:sp>
      <p:sp>
        <p:nvSpPr>
          <p:cNvPr id="8" name="Text 6"/>
          <p:cNvSpPr/>
          <p:nvPr/>
        </p:nvSpPr>
        <p:spPr>
          <a:xfrm>
            <a:off x="777240" y="1417320"/>
            <a:ext cx="4114800" cy="411480"/>
          </a:xfrm>
          <a:prstGeom prst="rect">
            <a:avLst/>
          </a:prstGeom>
          <a:noFill/>
        </p:spPr>
        <p:txBody>
          <a:bodyPr wrap="square" lIns="0" tIns="0" rIns="0" bIns="0" rtlCol="0" anchor="ctr"/>
          <a:lstStyle/>
          <a:p>
            <a:pPr marL="0" indent="0">
              <a:buNone/>
            </a:pPr>
            <a:r>
              <a:rPr lang="en-US" sz="2500" b="1" dirty="0">
                <a:solidFill>
                  <a:srgbClr val="173B35"/>
                </a:solidFill>
              </a:rPr>
              <a:t>Test → Refine → Retest</a:t>
            </a:r>
            <a:endParaRPr lang="en-US" sz="2500" dirty="0"/>
          </a:p>
        </p:txBody>
      </p:sp>
      <p:sp>
        <p:nvSpPr>
          <p:cNvPr id="9" name="Shape 7"/>
          <p:cNvSpPr/>
          <p:nvPr/>
        </p:nvSpPr>
        <p:spPr>
          <a:xfrm>
            <a:off x="822960" y="2148840"/>
            <a:ext cx="502920" cy="502920"/>
          </a:xfrm>
          <a:prstGeom prst="ellipse">
            <a:avLst/>
          </a:prstGeom>
          <a:solidFill>
            <a:srgbClr val="0E6B63"/>
          </a:solidFill>
          <a:ln w="12700">
            <a:solidFill>
              <a:srgbClr val="0E6B63"/>
            </a:solidFill>
            <a:prstDash val="solid"/>
          </a:ln>
        </p:spPr>
      </p:sp>
      <p:sp>
        <p:nvSpPr>
          <p:cNvPr id="10" name="Text 8"/>
          <p:cNvSpPr/>
          <p:nvPr/>
        </p:nvSpPr>
        <p:spPr>
          <a:xfrm>
            <a:off x="978408" y="2258568"/>
            <a:ext cx="182880" cy="182880"/>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1" name="Text 9"/>
          <p:cNvSpPr/>
          <p:nvPr/>
        </p:nvSpPr>
        <p:spPr>
          <a:xfrm>
            <a:off x="1481328" y="2112264"/>
            <a:ext cx="1417320" cy="502920"/>
          </a:xfrm>
          <a:prstGeom prst="rect">
            <a:avLst/>
          </a:prstGeom>
          <a:noFill/>
        </p:spPr>
        <p:txBody>
          <a:bodyPr wrap="square" lIns="0" tIns="0" rIns="0" bIns="0" rtlCol="0" anchor="ctr">
            <a:normAutofit/>
          </a:bodyPr>
          <a:lstStyle/>
          <a:p>
            <a:pPr marL="0" indent="0">
              <a:buNone/>
            </a:pPr>
            <a:r>
              <a:rPr lang="en-US" sz="1150" b="1" dirty="0">
                <a:solidFill>
                  <a:srgbClr val="173B35"/>
                </a:solidFill>
              </a:rPr>
              <a:t>KPI baseline</a:t>
            </a:r>
            <a:endParaRPr lang="en-US" sz="1150" dirty="0"/>
          </a:p>
          <a:p>
            <a:pPr marL="0" indent="0">
              <a:buNone/>
            </a:pPr>
            <a:r>
              <a:rPr lang="en-US" sz="1150" b="1" dirty="0">
                <a:solidFill>
                  <a:srgbClr val="173B35"/>
                </a:solidFill>
              </a:rPr>
              <a:t>values confirmed</a:t>
            </a:r>
            <a:endParaRPr lang="en-US" sz="1150" dirty="0"/>
          </a:p>
        </p:txBody>
      </p:sp>
      <p:sp>
        <p:nvSpPr>
          <p:cNvPr id="12" name="Shape 10"/>
          <p:cNvSpPr/>
          <p:nvPr/>
        </p:nvSpPr>
        <p:spPr>
          <a:xfrm>
            <a:off x="2880360" y="2395728"/>
            <a:ext cx="338328" cy="0"/>
          </a:xfrm>
          <a:prstGeom prst="line">
            <a:avLst/>
          </a:prstGeom>
          <a:noFill/>
          <a:ln w="25400">
            <a:solidFill>
              <a:srgbClr val="B8D9D1"/>
            </a:solidFill>
            <a:prstDash val="solid"/>
            <a:tailEnd type="triangle"/>
          </a:ln>
        </p:spPr>
      </p:sp>
      <p:sp>
        <p:nvSpPr>
          <p:cNvPr id="13" name="Shape 11"/>
          <p:cNvSpPr/>
          <p:nvPr/>
        </p:nvSpPr>
        <p:spPr>
          <a:xfrm>
            <a:off x="3246120" y="2148840"/>
            <a:ext cx="502920" cy="502920"/>
          </a:xfrm>
          <a:prstGeom prst="ellipse">
            <a:avLst/>
          </a:prstGeom>
          <a:solidFill>
            <a:srgbClr val="0E6B63"/>
          </a:solidFill>
          <a:ln w="12700">
            <a:solidFill>
              <a:srgbClr val="0E6B63"/>
            </a:solidFill>
            <a:prstDash val="solid"/>
          </a:ln>
        </p:spPr>
      </p:sp>
      <p:sp>
        <p:nvSpPr>
          <p:cNvPr id="14" name="Text 12"/>
          <p:cNvSpPr/>
          <p:nvPr/>
        </p:nvSpPr>
        <p:spPr>
          <a:xfrm>
            <a:off x="3401568" y="2258568"/>
            <a:ext cx="182880" cy="182880"/>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5" name="Text 13"/>
          <p:cNvSpPr/>
          <p:nvPr/>
        </p:nvSpPr>
        <p:spPr>
          <a:xfrm>
            <a:off x="3904488" y="2112264"/>
            <a:ext cx="1417320" cy="502920"/>
          </a:xfrm>
          <a:prstGeom prst="rect">
            <a:avLst/>
          </a:prstGeom>
          <a:noFill/>
        </p:spPr>
        <p:txBody>
          <a:bodyPr wrap="square" lIns="0" tIns="0" rIns="0" bIns="0" rtlCol="0" anchor="ctr">
            <a:normAutofit/>
          </a:bodyPr>
          <a:lstStyle/>
          <a:p>
            <a:pPr marL="0" indent="0">
              <a:buNone/>
            </a:pPr>
            <a:r>
              <a:rPr lang="en-US" sz="1150" b="1" dirty="0">
                <a:solidFill>
                  <a:srgbClr val="173B35"/>
                </a:solidFill>
              </a:rPr>
              <a:t>April slicer</a:t>
            </a:r>
            <a:endParaRPr lang="en-US" sz="1150" dirty="0"/>
          </a:p>
          <a:p>
            <a:pPr marL="0" indent="0">
              <a:buNone/>
            </a:pPr>
            <a:r>
              <a:rPr lang="en-US" sz="1150" b="1" dirty="0">
                <a:solidFill>
                  <a:srgbClr val="173B35"/>
                </a:solidFill>
              </a:rPr>
              <a:t>test passed</a:t>
            </a:r>
            <a:endParaRPr lang="en-US" sz="1150" dirty="0"/>
          </a:p>
        </p:txBody>
      </p:sp>
      <p:sp>
        <p:nvSpPr>
          <p:cNvPr id="16" name="Shape 14"/>
          <p:cNvSpPr/>
          <p:nvPr/>
        </p:nvSpPr>
        <p:spPr>
          <a:xfrm>
            <a:off x="5303520" y="2395728"/>
            <a:ext cx="338328" cy="0"/>
          </a:xfrm>
          <a:prstGeom prst="line">
            <a:avLst/>
          </a:prstGeom>
          <a:noFill/>
          <a:ln w="25400">
            <a:solidFill>
              <a:srgbClr val="B8D9D1"/>
            </a:solidFill>
            <a:prstDash val="solid"/>
            <a:tailEnd type="triangle"/>
          </a:ln>
        </p:spPr>
      </p:sp>
      <p:sp>
        <p:nvSpPr>
          <p:cNvPr id="17" name="Shape 15"/>
          <p:cNvSpPr/>
          <p:nvPr/>
        </p:nvSpPr>
        <p:spPr>
          <a:xfrm>
            <a:off x="5669280" y="2148840"/>
            <a:ext cx="502920" cy="502920"/>
          </a:xfrm>
          <a:prstGeom prst="ellipse">
            <a:avLst/>
          </a:prstGeom>
          <a:solidFill>
            <a:srgbClr val="0E6B63"/>
          </a:solidFill>
          <a:ln w="12700">
            <a:solidFill>
              <a:srgbClr val="0E6B63"/>
            </a:solidFill>
            <a:prstDash val="solid"/>
          </a:ln>
        </p:spPr>
      </p:sp>
      <p:sp>
        <p:nvSpPr>
          <p:cNvPr id="18" name="Text 16"/>
          <p:cNvSpPr/>
          <p:nvPr/>
        </p:nvSpPr>
        <p:spPr>
          <a:xfrm>
            <a:off x="5824728" y="2258568"/>
            <a:ext cx="182880" cy="182880"/>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Text 17"/>
          <p:cNvSpPr/>
          <p:nvPr/>
        </p:nvSpPr>
        <p:spPr>
          <a:xfrm>
            <a:off x="6327648" y="2112264"/>
            <a:ext cx="1417320" cy="502920"/>
          </a:xfrm>
          <a:prstGeom prst="rect">
            <a:avLst/>
          </a:prstGeom>
          <a:noFill/>
        </p:spPr>
        <p:txBody>
          <a:bodyPr wrap="square" lIns="0" tIns="0" rIns="0" bIns="0" rtlCol="0" anchor="ctr">
            <a:normAutofit/>
          </a:bodyPr>
          <a:lstStyle/>
          <a:p>
            <a:pPr marL="0" indent="0">
              <a:buNone/>
            </a:pPr>
            <a:r>
              <a:rPr lang="en-US" sz="1150" b="1" dirty="0">
                <a:solidFill>
                  <a:srgbClr val="173B35"/>
                </a:solidFill>
              </a:rPr>
              <a:t>General Consultation</a:t>
            </a:r>
            <a:endParaRPr lang="en-US" sz="1150" dirty="0"/>
          </a:p>
          <a:p>
            <a:pPr marL="0" indent="0">
              <a:buNone/>
            </a:pPr>
            <a:r>
              <a:rPr lang="en-US" sz="1150" b="1" dirty="0">
                <a:solidFill>
                  <a:srgbClr val="173B35"/>
                </a:solidFill>
              </a:rPr>
              <a:t>test passed</a:t>
            </a:r>
            <a:endParaRPr lang="en-US" sz="1150" dirty="0"/>
          </a:p>
        </p:txBody>
      </p:sp>
      <p:sp>
        <p:nvSpPr>
          <p:cNvPr id="20" name="Shape 18"/>
          <p:cNvSpPr/>
          <p:nvPr/>
        </p:nvSpPr>
        <p:spPr>
          <a:xfrm>
            <a:off x="7726680" y="2395728"/>
            <a:ext cx="338328" cy="0"/>
          </a:xfrm>
          <a:prstGeom prst="line">
            <a:avLst/>
          </a:prstGeom>
          <a:noFill/>
          <a:ln w="25400">
            <a:solidFill>
              <a:srgbClr val="B8D9D1"/>
            </a:solidFill>
            <a:prstDash val="solid"/>
            <a:tailEnd type="triangle"/>
          </a:ln>
        </p:spPr>
      </p:sp>
      <p:sp>
        <p:nvSpPr>
          <p:cNvPr id="21" name="Shape 19"/>
          <p:cNvSpPr/>
          <p:nvPr/>
        </p:nvSpPr>
        <p:spPr>
          <a:xfrm>
            <a:off x="8092440" y="2148840"/>
            <a:ext cx="502920" cy="502920"/>
          </a:xfrm>
          <a:prstGeom prst="ellipse">
            <a:avLst/>
          </a:prstGeom>
          <a:solidFill>
            <a:srgbClr val="0E6B63"/>
          </a:solidFill>
          <a:ln w="12700">
            <a:solidFill>
              <a:srgbClr val="0E6B63"/>
            </a:solidFill>
            <a:prstDash val="solid"/>
          </a:ln>
        </p:spPr>
      </p:sp>
      <p:sp>
        <p:nvSpPr>
          <p:cNvPr id="22" name="Text 20"/>
          <p:cNvSpPr/>
          <p:nvPr/>
        </p:nvSpPr>
        <p:spPr>
          <a:xfrm>
            <a:off x="8247888" y="2258568"/>
            <a:ext cx="182880" cy="182880"/>
          </a:xfrm>
          <a:prstGeom prst="rect">
            <a:avLst/>
          </a:prstGeom>
          <a:noFill/>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8750808" y="2112264"/>
            <a:ext cx="1417320" cy="502920"/>
          </a:xfrm>
          <a:prstGeom prst="rect">
            <a:avLst/>
          </a:prstGeom>
          <a:noFill/>
        </p:spPr>
        <p:txBody>
          <a:bodyPr wrap="square" lIns="0" tIns="0" rIns="0" bIns="0" rtlCol="0" anchor="ctr">
            <a:normAutofit/>
          </a:bodyPr>
          <a:lstStyle/>
          <a:p>
            <a:pPr marL="0" indent="0">
              <a:buNone/>
            </a:pPr>
            <a:r>
              <a:rPr lang="en-US" sz="1150" b="1" dirty="0">
                <a:solidFill>
                  <a:srgbClr val="173B35"/>
                </a:solidFill>
              </a:rPr>
              <a:t>Validated Key Findings</a:t>
            </a:r>
            <a:endParaRPr lang="en-US" sz="1150" dirty="0"/>
          </a:p>
          <a:p>
            <a:pPr marL="0" indent="0">
              <a:buNone/>
            </a:pPr>
            <a:r>
              <a:rPr lang="en-US" sz="1150" b="1" dirty="0">
                <a:solidFill>
                  <a:srgbClr val="173B35"/>
                </a:solidFill>
              </a:rPr>
              <a:t>added + retested</a:t>
            </a:r>
            <a:endParaRPr lang="en-US" sz="1150" dirty="0"/>
          </a:p>
        </p:txBody>
      </p:sp>
      <p:sp>
        <p:nvSpPr>
          <p:cNvPr id="24" name="Text 22"/>
          <p:cNvSpPr/>
          <p:nvPr/>
        </p:nvSpPr>
        <p:spPr>
          <a:xfrm>
            <a:off x="777240" y="3703320"/>
            <a:ext cx="4114800" cy="320040"/>
          </a:xfrm>
          <a:prstGeom prst="rect">
            <a:avLst/>
          </a:prstGeom>
          <a:noFill/>
        </p:spPr>
        <p:txBody>
          <a:bodyPr wrap="square" lIns="0" tIns="0" rIns="0" bIns="0" rtlCol="0" anchor="ctr"/>
          <a:lstStyle/>
          <a:p>
            <a:pPr marL="0" indent="0">
              <a:buNone/>
            </a:pPr>
            <a:r>
              <a:rPr lang="en-US" sz="2100" b="1" dirty="0">
                <a:solidFill>
                  <a:srgbClr val="173B35"/>
                </a:solidFill>
              </a:rPr>
              <a:t>Final recommendations</a:t>
            </a:r>
            <a:endParaRPr lang="en-US" sz="2100" dirty="0"/>
          </a:p>
        </p:txBody>
      </p:sp>
      <p:sp>
        <p:nvSpPr>
          <p:cNvPr id="25" name="Text 23"/>
          <p:cNvSpPr/>
          <p:nvPr/>
        </p:nvSpPr>
        <p:spPr>
          <a:xfrm>
            <a:off x="868680" y="4251960"/>
            <a:ext cx="9692640" cy="1188720"/>
          </a:xfrm>
          <a:prstGeom prst="rect">
            <a:avLst/>
          </a:prstGeom>
          <a:noFill/>
        </p:spPr>
        <p:txBody>
          <a:bodyPr wrap="square" lIns="508" tIns="508" rIns="508" bIns="508" rtlCol="0" anchor="ctr">
            <a:normAutofit/>
          </a:bodyPr>
          <a:lstStyle/>
          <a:p>
            <a:r>
              <a:rPr lang="en-US" sz="1430" dirty="0">
                <a:solidFill>
                  <a:srgbClr val="173B35"/>
                </a:solidFill>
              </a:rPr>
              <a:t>Prioritise patients with previous no-show history.</a:t>
            </a:r>
            <a:endParaRPr lang="en-US" sz="1430" dirty="0"/>
          </a:p>
          <a:p>
            <a:r>
              <a:rPr lang="en-US" sz="1430" dirty="0">
                <a:solidFill>
                  <a:srgbClr val="173B35"/>
                </a:solidFill>
              </a:rPr>
              <a:t>Improve reminder coverage.</a:t>
            </a:r>
            <a:endParaRPr lang="en-US" sz="1430" dirty="0"/>
          </a:p>
          <a:p>
            <a:r>
              <a:rPr lang="en-US" sz="1430" dirty="0">
                <a:solidFill>
                  <a:srgbClr val="173B35"/>
                </a:solidFill>
              </a:rPr>
              <a:t>Monitor longer booking lead times.</a:t>
            </a:r>
            <a:endParaRPr lang="en-US" sz="1430" dirty="0"/>
          </a:p>
          <a:p>
            <a:r>
              <a:rPr lang="en-US" sz="1430" dirty="0">
                <a:solidFill>
                  <a:srgbClr val="173B35"/>
                </a:solidFill>
              </a:rPr>
              <a:t>Use appointment-type segmentation.</a:t>
            </a:r>
            <a:endParaRPr lang="en-US" sz="1430" dirty="0"/>
          </a:p>
          <a:p>
            <a:r>
              <a:rPr lang="en-US" sz="1430" dirty="0">
                <a:solidFill>
                  <a:srgbClr val="173B35"/>
                </a:solidFill>
              </a:rPr>
              <a:t>Review dashboard trends regularly.</a:t>
            </a:r>
            <a:endParaRPr lang="en-US" sz="14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6B63"/>
          </a:solidFill>
          <a:ln w="12700">
            <a:solidFill>
              <a:srgbClr val="0E6B63"/>
            </a:solidFill>
            <a:prstDash val="solid"/>
          </a:ln>
        </p:spPr>
      </p:sp>
      <p:sp>
        <p:nvSpPr>
          <p:cNvPr id="3" name="Shape 1"/>
          <p:cNvSpPr/>
          <p:nvPr/>
        </p:nvSpPr>
        <p:spPr>
          <a:xfrm>
            <a:off x="164592" y="0"/>
            <a:ext cx="54864" cy="6858000"/>
          </a:xfrm>
          <a:prstGeom prst="rect">
            <a:avLst/>
          </a:prstGeom>
          <a:solidFill>
            <a:srgbClr val="28A745"/>
          </a:solidFill>
          <a:ln w="12700">
            <a:solidFill>
              <a:srgbClr val="28A745"/>
            </a:solidFill>
            <a:prstDash val="solid"/>
          </a:ln>
        </p:spPr>
      </p:sp>
      <p:sp>
        <p:nvSpPr>
          <p:cNvPr id="4" name="Text 2"/>
          <p:cNvSpPr/>
          <p:nvPr/>
        </p:nvSpPr>
        <p:spPr>
          <a:xfrm>
            <a:off x="502920" y="6419088"/>
            <a:ext cx="5303520" cy="219456"/>
          </a:xfrm>
          <a:prstGeom prst="rect">
            <a:avLst/>
          </a:prstGeom>
          <a:noFill/>
        </p:spPr>
        <p:txBody>
          <a:bodyPr wrap="square" lIns="0" tIns="0" rIns="0" bIns="0" rtlCol="0" anchor="ctr"/>
          <a:lstStyle/>
          <a:p>
            <a:pPr marL="0" indent="0">
              <a:buNone/>
            </a:pPr>
            <a:r>
              <a:rPr lang="en-US" sz="850" dirty="0">
                <a:solidFill>
                  <a:srgbClr val="65746F"/>
                </a:solidFill>
                <a:latin typeface="Aptos" pitchFamily="34" charset="0"/>
                <a:ea typeface="Aptos" pitchFamily="34" charset="-122"/>
                <a:cs typeface="Aptos" pitchFamily="34" charset="-120"/>
              </a:rPr>
              <a:t>HealthConnect • Data Analytics • Week 8</a:t>
            </a:r>
            <a:endParaRPr lang="en-US" sz="850" dirty="0"/>
          </a:p>
        </p:txBody>
      </p:sp>
      <p:sp>
        <p:nvSpPr>
          <p:cNvPr id="5" name="Text 3"/>
          <p:cNvSpPr/>
          <p:nvPr/>
        </p:nvSpPr>
        <p:spPr>
          <a:xfrm>
            <a:off x="11201400" y="6419088"/>
            <a:ext cx="457200" cy="219456"/>
          </a:xfrm>
          <a:prstGeom prst="rect">
            <a:avLst/>
          </a:prstGeom>
          <a:noFill/>
        </p:spPr>
        <p:txBody>
          <a:bodyPr wrap="square" lIns="0" tIns="0" rIns="0" bIns="0" rtlCol="0" anchor="ctr"/>
          <a:lstStyle/>
          <a:p>
            <a:pPr marL="0" indent="0" algn="r">
              <a:buNone/>
            </a:pPr>
            <a:r>
              <a:rPr lang="en-US" sz="850" dirty="0">
                <a:solidFill>
                  <a:srgbClr val="65746F"/>
                </a:solidFill>
                <a:latin typeface="Aptos" pitchFamily="34" charset="0"/>
                <a:ea typeface="Aptos" pitchFamily="34" charset="-122"/>
                <a:cs typeface="Aptos" pitchFamily="34" charset="-120"/>
              </a:rPr>
              <a:t>6/7</a:t>
            </a:r>
            <a:endParaRPr lang="en-US" sz="850" dirty="0"/>
          </a:p>
        </p:txBody>
      </p:sp>
      <p:sp>
        <p:nvSpPr>
          <p:cNvPr id="6" name="Text 4"/>
          <p:cNvSpPr/>
          <p:nvPr/>
        </p:nvSpPr>
        <p:spPr>
          <a:xfrm>
            <a:off x="594360" y="384048"/>
            <a:ext cx="9784080" cy="457200"/>
          </a:xfrm>
          <a:prstGeom prst="rect">
            <a:avLst/>
          </a:prstGeom>
          <a:noFill/>
        </p:spPr>
        <p:txBody>
          <a:bodyPr wrap="square" lIns="0" tIns="0" rIns="0" bIns="0" rtlCol="0" anchor="ctr"/>
          <a:lstStyle/>
          <a:p>
            <a:pPr marL="0" indent="0">
              <a:buNone/>
            </a:pPr>
            <a:r>
              <a:rPr lang="en-US" sz="2700" b="1" dirty="0">
                <a:solidFill>
                  <a:srgbClr val="173B35"/>
                </a:solidFill>
                <a:latin typeface="Aptos Display" pitchFamily="34" charset="0"/>
                <a:ea typeface="Aptos Display" pitchFamily="34" charset="-122"/>
                <a:cs typeface="Aptos Display" pitchFamily="34" charset="-120"/>
              </a:rPr>
              <a:t>Integration, Limitations &amp; Solution Fit</a:t>
            </a:r>
            <a:endParaRPr lang="en-US" sz="2700" dirty="0"/>
          </a:p>
        </p:txBody>
      </p:sp>
      <p:sp>
        <p:nvSpPr>
          <p:cNvPr id="7" name="Text 5"/>
          <p:cNvSpPr/>
          <p:nvPr/>
        </p:nvSpPr>
        <p:spPr>
          <a:xfrm>
            <a:off x="621792" y="896112"/>
            <a:ext cx="8961120" cy="310896"/>
          </a:xfrm>
          <a:prstGeom prst="rect">
            <a:avLst/>
          </a:prstGeom>
          <a:noFill/>
        </p:spPr>
        <p:txBody>
          <a:bodyPr wrap="square" lIns="0" tIns="0" rIns="0" bIns="0" rtlCol="0" anchor="ctr"/>
          <a:lstStyle/>
          <a:p>
            <a:pPr marL="0" indent="0">
              <a:buNone/>
            </a:pPr>
            <a:r>
              <a:rPr lang="en-US" sz="1150" dirty="0">
                <a:solidFill>
                  <a:srgbClr val="65746F"/>
                </a:solidFill>
              </a:rPr>
              <a:t>Analytics connects to model interpretation and wider HealthConnect decisions</a:t>
            </a:r>
            <a:endParaRPr lang="en-US" sz="1150" dirty="0"/>
          </a:p>
        </p:txBody>
      </p:sp>
      <p:sp>
        <p:nvSpPr>
          <p:cNvPr id="8" name="Text 6"/>
          <p:cNvSpPr/>
          <p:nvPr/>
        </p:nvSpPr>
        <p:spPr>
          <a:xfrm>
            <a:off x="777240" y="1417320"/>
            <a:ext cx="2926080" cy="274320"/>
          </a:xfrm>
          <a:prstGeom prst="rect">
            <a:avLst/>
          </a:prstGeom>
          <a:noFill/>
        </p:spPr>
        <p:txBody>
          <a:bodyPr wrap="square" lIns="0" tIns="0" rIns="0" bIns="0" rtlCol="0" anchor="ctr"/>
          <a:lstStyle/>
          <a:p>
            <a:pPr marL="0" indent="0">
              <a:buNone/>
            </a:pPr>
            <a:r>
              <a:rPr lang="en-US" sz="1700" b="1" dirty="0">
                <a:solidFill>
                  <a:srgbClr val="0E6B63"/>
                </a:solidFill>
              </a:rPr>
              <a:t>Analytics contribution</a:t>
            </a:r>
            <a:endParaRPr lang="en-US" sz="1700" dirty="0"/>
          </a:p>
        </p:txBody>
      </p:sp>
      <p:sp>
        <p:nvSpPr>
          <p:cNvPr id="9" name="Shape 7"/>
          <p:cNvSpPr/>
          <p:nvPr/>
        </p:nvSpPr>
        <p:spPr>
          <a:xfrm>
            <a:off x="777240" y="1874520"/>
            <a:ext cx="2788920" cy="1188720"/>
          </a:xfrm>
          <a:prstGeom prst="roundRect">
            <a:avLst>
              <a:gd name="adj" fmla="val 4615"/>
            </a:avLst>
          </a:prstGeom>
          <a:solidFill>
            <a:srgbClr val="DDF2EA"/>
          </a:solidFill>
          <a:ln w="12700">
            <a:solidFill>
              <a:srgbClr val="DDF2EA"/>
            </a:solidFill>
            <a:prstDash val="solid"/>
          </a:ln>
        </p:spPr>
      </p:sp>
      <p:sp>
        <p:nvSpPr>
          <p:cNvPr id="10" name="Text 8"/>
          <p:cNvSpPr/>
          <p:nvPr/>
        </p:nvSpPr>
        <p:spPr>
          <a:xfrm>
            <a:off x="1051560" y="2148840"/>
            <a:ext cx="2194560" cy="502920"/>
          </a:xfrm>
          <a:prstGeom prst="rect">
            <a:avLst/>
          </a:prstGeom>
          <a:noFill/>
        </p:spPr>
        <p:txBody>
          <a:bodyPr wrap="square" lIns="0" tIns="0" rIns="0" bIns="0" rtlCol="0" anchor="ctr">
            <a:normAutofit/>
          </a:bodyPr>
          <a:lstStyle/>
          <a:p>
            <a:pPr marL="0" indent="0" algn="ctr">
              <a:buNone/>
            </a:pPr>
            <a:r>
              <a:rPr lang="en-US" sz="1700" b="1" dirty="0">
                <a:solidFill>
                  <a:srgbClr val="173B35"/>
                </a:solidFill>
              </a:rPr>
              <a:t>Validated no-show</a:t>
            </a:r>
            <a:endParaRPr lang="en-US" sz="1700" dirty="0"/>
          </a:p>
          <a:p>
            <a:pPr marL="0" indent="0" algn="ctr">
              <a:buNone/>
            </a:pPr>
            <a:r>
              <a:rPr lang="en-US" sz="1700" b="1" dirty="0">
                <a:solidFill>
                  <a:srgbClr val="173B35"/>
                </a:solidFill>
              </a:rPr>
              <a:t>patterns + KPIs</a:t>
            </a:r>
            <a:endParaRPr lang="en-US" sz="1700" dirty="0"/>
          </a:p>
        </p:txBody>
      </p:sp>
      <p:sp>
        <p:nvSpPr>
          <p:cNvPr id="11" name="Shape 9"/>
          <p:cNvSpPr/>
          <p:nvPr/>
        </p:nvSpPr>
        <p:spPr>
          <a:xfrm>
            <a:off x="3749040" y="2468880"/>
            <a:ext cx="1005840" cy="0"/>
          </a:xfrm>
          <a:prstGeom prst="line">
            <a:avLst/>
          </a:prstGeom>
          <a:noFill/>
          <a:ln w="31750">
            <a:solidFill>
              <a:srgbClr val="0E6B63"/>
            </a:solidFill>
            <a:prstDash val="solid"/>
            <a:tailEnd type="triangle"/>
          </a:ln>
        </p:spPr>
      </p:sp>
      <p:sp>
        <p:nvSpPr>
          <p:cNvPr id="12" name="Text 10"/>
          <p:cNvSpPr/>
          <p:nvPr/>
        </p:nvSpPr>
        <p:spPr>
          <a:xfrm>
            <a:off x="4983480" y="1417320"/>
            <a:ext cx="2286000" cy="274320"/>
          </a:xfrm>
          <a:prstGeom prst="rect">
            <a:avLst/>
          </a:prstGeom>
          <a:noFill/>
        </p:spPr>
        <p:txBody>
          <a:bodyPr wrap="square" lIns="0" tIns="0" rIns="0" bIns="0" rtlCol="0" anchor="ctr"/>
          <a:lstStyle/>
          <a:p>
            <a:pPr marL="0" indent="0">
              <a:buNone/>
            </a:pPr>
            <a:r>
              <a:rPr lang="en-US" sz="1700" b="1" dirty="0">
                <a:solidFill>
                  <a:srgbClr val="0E6B63"/>
                </a:solidFill>
              </a:rPr>
              <a:t>Data Science</a:t>
            </a:r>
            <a:endParaRPr lang="en-US" sz="1700" dirty="0"/>
          </a:p>
        </p:txBody>
      </p:sp>
      <p:sp>
        <p:nvSpPr>
          <p:cNvPr id="13" name="Shape 11"/>
          <p:cNvSpPr/>
          <p:nvPr/>
        </p:nvSpPr>
        <p:spPr>
          <a:xfrm>
            <a:off x="4892040" y="1874520"/>
            <a:ext cx="2834640" cy="1188720"/>
          </a:xfrm>
          <a:prstGeom prst="roundRect">
            <a:avLst>
              <a:gd name="adj" fmla="val 4615"/>
            </a:avLst>
          </a:prstGeom>
          <a:solidFill>
            <a:srgbClr val="EFF8F4"/>
          </a:solidFill>
          <a:ln w="12700">
            <a:solidFill>
              <a:srgbClr val="B8D9D1"/>
            </a:solidFill>
            <a:prstDash val="solid"/>
          </a:ln>
        </p:spPr>
      </p:sp>
      <p:sp>
        <p:nvSpPr>
          <p:cNvPr id="14" name="Text 12"/>
          <p:cNvSpPr/>
          <p:nvPr/>
        </p:nvSpPr>
        <p:spPr>
          <a:xfrm>
            <a:off x="5166360" y="2148840"/>
            <a:ext cx="2286000" cy="502920"/>
          </a:xfrm>
          <a:prstGeom prst="rect">
            <a:avLst/>
          </a:prstGeom>
          <a:noFill/>
        </p:spPr>
        <p:txBody>
          <a:bodyPr wrap="square" lIns="0" tIns="0" rIns="0" bIns="0" rtlCol="0" anchor="ctr">
            <a:normAutofit/>
          </a:bodyPr>
          <a:lstStyle/>
          <a:p>
            <a:pPr marL="0" indent="0" algn="ctr">
              <a:buNone/>
            </a:pPr>
            <a:r>
              <a:rPr lang="en-US" sz="1700" b="1" dirty="0">
                <a:solidFill>
                  <a:srgbClr val="173B35"/>
                </a:solidFill>
              </a:rPr>
              <a:t>Support final model</a:t>
            </a:r>
            <a:endParaRPr lang="en-US" sz="1700" dirty="0"/>
          </a:p>
          <a:p>
            <a:pPr marL="0" indent="0" algn="ctr">
              <a:buNone/>
            </a:pPr>
            <a:r>
              <a:rPr lang="en-US" sz="1700" b="1" dirty="0">
                <a:solidFill>
                  <a:srgbClr val="173B35"/>
                </a:solidFill>
              </a:rPr>
              <a:t>interpretation</a:t>
            </a:r>
            <a:endParaRPr lang="en-US" sz="1700" dirty="0"/>
          </a:p>
        </p:txBody>
      </p:sp>
      <p:sp>
        <p:nvSpPr>
          <p:cNvPr id="15" name="Shape 13"/>
          <p:cNvSpPr/>
          <p:nvPr/>
        </p:nvSpPr>
        <p:spPr>
          <a:xfrm>
            <a:off x="7909560" y="2468880"/>
            <a:ext cx="1005840" cy="0"/>
          </a:xfrm>
          <a:prstGeom prst="line">
            <a:avLst/>
          </a:prstGeom>
          <a:noFill/>
          <a:ln w="31750">
            <a:solidFill>
              <a:srgbClr val="0E6B63"/>
            </a:solidFill>
            <a:prstDash val="solid"/>
            <a:tailEnd type="triangle"/>
          </a:ln>
        </p:spPr>
      </p:sp>
      <p:sp>
        <p:nvSpPr>
          <p:cNvPr id="16" name="Text 14"/>
          <p:cNvSpPr/>
          <p:nvPr/>
        </p:nvSpPr>
        <p:spPr>
          <a:xfrm>
            <a:off x="9098280" y="1417320"/>
            <a:ext cx="2560320" cy="274320"/>
          </a:xfrm>
          <a:prstGeom prst="rect">
            <a:avLst/>
          </a:prstGeom>
          <a:noFill/>
        </p:spPr>
        <p:txBody>
          <a:bodyPr wrap="square" lIns="0" tIns="0" rIns="0" bIns="0" rtlCol="0" anchor="ctr"/>
          <a:lstStyle/>
          <a:p>
            <a:pPr marL="0" indent="0">
              <a:buNone/>
            </a:pPr>
            <a:r>
              <a:rPr lang="en-US" sz="1700" b="1" dirty="0">
                <a:solidFill>
                  <a:srgbClr val="0E6B63"/>
                </a:solidFill>
              </a:rPr>
              <a:t>HealthConnect decisions</a:t>
            </a:r>
            <a:endParaRPr lang="en-US" sz="1700" dirty="0"/>
          </a:p>
        </p:txBody>
      </p:sp>
      <p:sp>
        <p:nvSpPr>
          <p:cNvPr id="17" name="Shape 15"/>
          <p:cNvSpPr/>
          <p:nvPr/>
        </p:nvSpPr>
        <p:spPr>
          <a:xfrm>
            <a:off x="9006840" y="1874520"/>
            <a:ext cx="2560320" cy="1188720"/>
          </a:xfrm>
          <a:prstGeom prst="roundRect">
            <a:avLst>
              <a:gd name="adj" fmla="val 4615"/>
            </a:avLst>
          </a:prstGeom>
          <a:solidFill>
            <a:srgbClr val="FFFFFF"/>
          </a:solidFill>
          <a:ln w="12700">
            <a:solidFill>
              <a:srgbClr val="B8D9D1"/>
            </a:solidFill>
            <a:prstDash val="solid"/>
          </a:ln>
        </p:spPr>
      </p:sp>
      <p:sp>
        <p:nvSpPr>
          <p:cNvPr id="18" name="Text 16"/>
          <p:cNvSpPr/>
          <p:nvPr/>
        </p:nvSpPr>
        <p:spPr>
          <a:xfrm>
            <a:off x="9217152" y="2148840"/>
            <a:ext cx="2139696" cy="502920"/>
          </a:xfrm>
          <a:prstGeom prst="rect">
            <a:avLst/>
          </a:prstGeom>
          <a:noFill/>
        </p:spPr>
        <p:txBody>
          <a:bodyPr wrap="square" lIns="0" tIns="0" rIns="0" bIns="0" rtlCol="0" anchor="ctr">
            <a:normAutofit/>
          </a:bodyPr>
          <a:lstStyle/>
          <a:p>
            <a:pPr marL="0" indent="0" algn="ctr">
              <a:buNone/>
            </a:pPr>
            <a:r>
              <a:rPr lang="en-US" sz="1600" b="1" dirty="0">
                <a:solidFill>
                  <a:srgbClr val="173B35"/>
                </a:solidFill>
              </a:rPr>
              <a:t>Targeted attendance</a:t>
            </a:r>
            <a:endParaRPr lang="en-US" sz="1600" dirty="0"/>
          </a:p>
          <a:p>
            <a:pPr marL="0" indent="0" algn="ctr">
              <a:buNone/>
            </a:pPr>
            <a:r>
              <a:rPr lang="en-US" sz="1600" b="1" dirty="0">
                <a:solidFill>
                  <a:srgbClr val="173B35"/>
                </a:solidFill>
              </a:rPr>
              <a:t>interventions</a:t>
            </a:r>
            <a:endParaRPr lang="en-US" sz="1600" dirty="0"/>
          </a:p>
        </p:txBody>
      </p:sp>
      <p:sp>
        <p:nvSpPr>
          <p:cNvPr id="19" name="Text 17"/>
          <p:cNvSpPr/>
          <p:nvPr/>
        </p:nvSpPr>
        <p:spPr>
          <a:xfrm>
            <a:off x="822960" y="3931920"/>
            <a:ext cx="3474720" cy="292608"/>
          </a:xfrm>
          <a:prstGeom prst="rect">
            <a:avLst/>
          </a:prstGeom>
          <a:noFill/>
        </p:spPr>
        <p:txBody>
          <a:bodyPr wrap="square" lIns="0" tIns="0" rIns="0" bIns="0" rtlCol="0" anchor="ctr"/>
          <a:lstStyle/>
          <a:p>
            <a:pPr marL="0" indent="0">
              <a:buNone/>
            </a:pPr>
            <a:r>
              <a:rPr lang="en-US" sz="2000" b="1" dirty="0">
                <a:solidFill>
                  <a:srgbClr val="173B35"/>
                </a:solidFill>
              </a:rPr>
              <a:t>Current limitations</a:t>
            </a:r>
            <a:endParaRPr lang="en-US" sz="2000" dirty="0"/>
          </a:p>
        </p:txBody>
      </p:sp>
      <p:sp>
        <p:nvSpPr>
          <p:cNvPr id="20" name="Text 18"/>
          <p:cNvSpPr/>
          <p:nvPr/>
        </p:nvSpPr>
        <p:spPr>
          <a:xfrm>
            <a:off x="868680" y="4434840"/>
            <a:ext cx="5486400" cy="960120"/>
          </a:xfrm>
          <a:prstGeom prst="rect">
            <a:avLst/>
          </a:prstGeom>
          <a:noFill/>
        </p:spPr>
        <p:txBody>
          <a:bodyPr wrap="square" lIns="508" tIns="508" rIns="508" bIns="508" rtlCol="0" anchor="ctr">
            <a:normAutofit/>
          </a:bodyPr>
          <a:lstStyle/>
          <a:p>
            <a:r>
              <a:rPr lang="en-US" sz="1350" dirty="0">
                <a:solidFill>
                  <a:srgbClr val="173B35"/>
                </a:solidFill>
              </a:rPr>
              <a:t>Descriptive analysis; does not prove causality.</a:t>
            </a:r>
            <a:endParaRPr lang="en-US" sz="1350" dirty="0"/>
          </a:p>
          <a:p>
            <a:r>
              <a:rPr lang="en-US" sz="1350" dirty="0">
                <a:solidFill>
                  <a:srgbClr val="173B35"/>
                </a:solidFill>
              </a:rPr>
              <a:t>Reminder coverage does not prove reminder impact.</a:t>
            </a:r>
            <a:endParaRPr lang="en-US" sz="1350" dirty="0"/>
          </a:p>
          <a:p>
            <a:r>
              <a:rPr lang="en-US" sz="1350" dirty="0">
                <a:solidFill>
                  <a:srgbClr val="173B35"/>
                </a:solidFill>
              </a:rPr>
              <a:t>Formal cross-track evidence remains outstanding.</a:t>
            </a:r>
            <a:endParaRPr lang="en-US" sz="1350" dirty="0"/>
          </a:p>
        </p:txBody>
      </p:sp>
      <p:sp>
        <p:nvSpPr>
          <p:cNvPr id="21" name="Text 19"/>
          <p:cNvSpPr/>
          <p:nvPr/>
        </p:nvSpPr>
        <p:spPr>
          <a:xfrm>
            <a:off x="6766560" y="3931920"/>
            <a:ext cx="2743200" cy="292608"/>
          </a:xfrm>
          <a:prstGeom prst="rect">
            <a:avLst/>
          </a:prstGeom>
          <a:noFill/>
        </p:spPr>
        <p:txBody>
          <a:bodyPr wrap="square" lIns="0" tIns="0" rIns="0" bIns="0" rtlCol="0" anchor="ctr"/>
          <a:lstStyle/>
          <a:p>
            <a:pPr marL="0" indent="0">
              <a:buNone/>
            </a:pPr>
            <a:r>
              <a:rPr lang="en-US" sz="2000" b="1" dirty="0">
                <a:solidFill>
                  <a:srgbClr val="173B35"/>
                </a:solidFill>
              </a:rPr>
              <a:t>Broader solution</a:t>
            </a:r>
            <a:endParaRPr lang="en-US" sz="2000" dirty="0"/>
          </a:p>
        </p:txBody>
      </p:sp>
      <p:sp>
        <p:nvSpPr>
          <p:cNvPr id="22" name="Text 20"/>
          <p:cNvSpPr/>
          <p:nvPr/>
        </p:nvSpPr>
        <p:spPr>
          <a:xfrm>
            <a:off x="6812280" y="4434840"/>
            <a:ext cx="4023360" cy="685800"/>
          </a:xfrm>
          <a:prstGeom prst="rect">
            <a:avLst/>
          </a:prstGeom>
          <a:noFill/>
        </p:spPr>
        <p:txBody>
          <a:bodyPr wrap="square" lIns="0" tIns="0" rIns="0" bIns="0" rtlCol="0" anchor="ctr">
            <a:normAutofit/>
          </a:bodyPr>
          <a:lstStyle/>
          <a:p>
            <a:pPr marL="0" indent="0">
              <a:buNone/>
            </a:pPr>
            <a:r>
              <a:rPr lang="en-US" sz="1700" b="1" dirty="0">
                <a:solidFill>
                  <a:srgbClr val="0E6B63"/>
                </a:solidFill>
              </a:rPr>
              <a:t>Analytics + Data Science + ML Engineering + GenAI + Project Management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6B63"/>
          </a:solidFill>
          <a:ln w="12700">
            <a:solidFill>
              <a:srgbClr val="0E6B63"/>
            </a:solidFill>
            <a:prstDash val="solid"/>
          </a:ln>
        </p:spPr>
      </p:sp>
      <p:sp>
        <p:nvSpPr>
          <p:cNvPr id="3" name="Shape 1"/>
          <p:cNvSpPr/>
          <p:nvPr/>
        </p:nvSpPr>
        <p:spPr>
          <a:xfrm>
            <a:off x="164592" y="0"/>
            <a:ext cx="54864" cy="6858000"/>
          </a:xfrm>
          <a:prstGeom prst="rect">
            <a:avLst/>
          </a:prstGeom>
          <a:solidFill>
            <a:srgbClr val="28A745"/>
          </a:solidFill>
          <a:ln w="12700">
            <a:solidFill>
              <a:srgbClr val="28A745"/>
            </a:solidFill>
            <a:prstDash val="solid"/>
          </a:ln>
        </p:spPr>
      </p:sp>
      <p:sp>
        <p:nvSpPr>
          <p:cNvPr id="4" name="Text 2"/>
          <p:cNvSpPr/>
          <p:nvPr/>
        </p:nvSpPr>
        <p:spPr>
          <a:xfrm>
            <a:off x="502920" y="6419088"/>
            <a:ext cx="5303520" cy="219456"/>
          </a:xfrm>
          <a:prstGeom prst="rect">
            <a:avLst/>
          </a:prstGeom>
          <a:noFill/>
        </p:spPr>
        <p:txBody>
          <a:bodyPr wrap="square" lIns="0" tIns="0" rIns="0" bIns="0" rtlCol="0" anchor="ctr"/>
          <a:lstStyle/>
          <a:p>
            <a:pPr marL="0" indent="0">
              <a:buNone/>
            </a:pPr>
            <a:r>
              <a:rPr lang="en-US" sz="850" dirty="0">
                <a:solidFill>
                  <a:srgbClr val="65746F"/>
                </a:solidFill>
                <a:latin typeface="Aptos" pitchFamily="34" charset="0"/>
                <a:ea typeface="Aptos" pitchFamily="34" charset="-122"/>
                <a:cs typeface="Aptos" pitchFamily="34" charset="-120"/>
              </a:rPr>
              <a:t>HealthConnect • Data Analytics • Week 8</a:t>
            </a:r>
            <a:endParaRPr lang="en-US" sz="850" dirty="0"/>
          </a:p>
        </p:txBody>
      </p:sp>
      <p:sp>
        <p:nvSpPr>
          <p:cNvPr id="5" name="Text 3"/>
          <p:cNvSpPr/>
          <p:nvPr/>
        </p:nvSpPr>
        <p:spPr>
          <a:xfrm>
            <a:off x="11201400" y="6419088"/>
            <a:ext cx="457200" cy="219456"/>
          </a:xfrm>
          <a:prstGeom prst="rect">
            <a:avLst/>
          </a:prstGeom>
          <a:noFill/>
        </p:spPr>
        <p:txBody>
          <a:bodyPr wrap="square" lIns="0" tIns="0" rIns="0" bIns="0" rtlCol="0" anchor="ctr"/>
          <a:lstStyle/>
          <a:p>
            <a:pPr marL="0" indent="0" algn="r">
              <a:buNone/>
            </a:pPr>
            <a:r>
              <a:rPr lang="en-US" sz="850" dirty="0">
                <a:solidFill>
                  <a:srgbClr val="65746F"/>
                </a:solidFill>
                <a:latin typeface="Aptos" pitchFamily="34" charset="0"/>
                <a:ea typeface="Aptos" pitchFamily="34" charset="-122"/>
                <a:cs typeface="Aptos" pitchFamily="34" charset="-120"/>
              </a:rPr>
              <a:t>7/7</a:t>
            </a:r>
            <a:endParaRPr lang="en-US" sz="850" dirty="0"/>
          </a:p>
        </p:txBody>
      </p:sp>
      <p:sp>
        <p:nvSpPr>
          <p:cNvPr id="6" name="Text 4"/>
          <p:cNvSpPr/>
          <p:nvPr/>
        </p:nvSpPr>
        <p:spPr>
          <a:xfrm>
            <a:off x="594360" y="384048"/>
            <a:ext cx="9784080" cy="457200"/>
          </a:xfrm>
          <a:prstGeom prst="rect">
            <a:avLst/>
          </a:prstGeom>
          <a:noFill/>
        </p:spPr>
        <p:txBody>
          <a:bodyPr wrap="square" lIns="0" tIns="0" rIns="0" bIns="0" rtlCol="0" anchor="ctr"/>
          <a:lstStyle/>
          <a:p>
            <a:pPr marL="0" indent="0">
              <a:buNone/>
            </a:pPr>
            <a:r>
              <a:rPr lang="en-US" sz="2700" b="1" dirty="0">
                <a:solidFill>
                  <a:srgbClr val="173B35"/>
                </a:solidFill>
                <a:latin typeface="Aptos Display" pitchFamily="34" charset="0"/>
                <a:ea typeface="Aptos Display" pitchFamily="34" charset="-122"/>
                <a:cs typeface="Aptos Display" pitchFamily="34" charset="-120"/>
              </a:rPr>
              <a:t>Business Value &amp; Closing</a:t>
            </a:r>
            <a:endParaRPr lang="en-US" sz="2700" dirty="0"/>
          </a:p>
        </p:txBody>
      </p:sp>
      <p:sp>
        <p:nvSpPr>
          <p:cNvPr id="7" name="Text 5"/>
          <p:cNvSpPr/>
          <p:nvPr/>
        </p:nvSpPr>
        <p:spPr>
          <a:xfrm>
            <a:off x="621792" y="896112"/>
            <a:ext cx="8961120" cy="310896"/>
          </a:xfrm>
          <a:prstGeom prst="rect">
            <a:avLst/>
          </a:prstGeom>
          <a:noFill/>
        </p:spPr>
        <p:txBody>
          <a:bodyPr wrap="square" lIns="0" tIns="0" rIns="0" bIns="0" rtlCol="0" anchor="ctr"/>
          <a:lstStyle/>
          <a:p>
            <a:pPr marL="0" indent="0">
              <a:buNone/>
            </a:pPr>
            <a:r>
              <a:rPr lang="en-US" sz="1150" dirty="0">
                <a:solidFill>
                  <a:srgbClr val="65746F"/>
                </a:solidFill>
              </a:rPr>
              <a:t>A tested analytical foundation for attendance-focused decisions</a:t>
            </a:r>
            <a:endParaRPr lang="en-US" sz="1150" dirty="0"/>
          </a:p>
        </p:txBody>
      </p:sp>
      <p:sp>
        <p:nvSpPr>
          <p:cNvPr id="8" name="Text 6"/>
          <p:cNvSpPr/>
          <p:nvPr/>
        </p:nvSpPr>
        <p:spPr>
          <a:xfrm>
            <a:off x="777240" y="1417320"/>
            <a:ext cx="2743200" cy="320040"/>
          </a:xfrm>
          <a:prstGeom prst="rect">
            <a:avLst/>
          </a:prstGeom>
          <a:noFill/>
        </p:spPr>
        <p:txBody>
          <a:bodyPr wrap="square" lIns="0" tIns="0" rIns="0" bIns="0" rtlCol="0" anchor="ctr"/>
          <a:lstStyle/>
          <a:p>
            <a:pPr marL="0" indent="0">
              <a:buNone/>
            </a:pPr>
            <a:r>
              <a:rPr lang="en-US" sz="2200" b="1" dirty="0">
                <a:solidFill>
                  <a:srgbClr val="173B35"/>
                </a:solidFill>
              </a:rPr>
              <a:t>Business value</a:t>
            </a:r>
            <a:endParaRPr lang="en-US" sz="2200" dirty="0"/>
          </a:p>
        </p:txBody>
      </p:sp>
      <p:sp>
        <p:nvSpPr>
          <p:cNvPr id="9" name="Text 7"/>
          <p:cNvSpPr/>
          <p:nvPr/>
        </p:nvSpPr>
        <p:spPr>
          <a:xfrm>
            <a:off x="868680" y="1965960"/>
            <a:ext cx="4754880" cy="1234440"/>
          </a:xfrm>
          <a:prstGeom prst="rect">
            <a:avLst/>
          </a:prstGeom>
          <a:noFill/>
        </p:spPr>
        <p:txBody>
          <a:bodyPr wrap="square" lIns="508" tIns="508" rIns="508" bIns="508" rtlCol="0" anchor="ctr">
            <a:normAutofit/>
          </a:bodyPr>
          <a:lstStyle/>
          <a:p>
            <a:r>
              <a:rPr lang="en-US" sz="1500" dirty="0">
                <a:solidFill>
                  <a:srgbClr val="173B35"/>
                </a:solidFill>
              </a:rPr>
              <a:t>Identifies areas needing attention.</a:t>
            </a:r>
            <a:endParaRPr lang="en-US" sz="1500" dirty="0"/>
          </a:p>
          <a:p>
            <a:r>
              <a:rPr lang="en-US" sz="1500" dirty="0">
                <a:solidFill>
                  <a:srgbClr val="173B35"/>
                </a:solidFill>
              </a:rPr>
              <a:t>Monitors repeat no-show behaviour.</a:t>
            </a:r>
            <a:endParaRPr lang="en-US" sz="1500" dirty="0"/>
          </a:p>
          <a:p>
            <a:r>
              <a:rPr lang="en-US" sz="1500" dirty="0">
                <a:solidFill>
                  <a:srgbClr val="173B35"/>
                </a:solidFill>
              </a:rPr>
              <a:t>Tracks reminder coverage.</a:t>
            </a:r>
            <a:endParaRPr lang="en-US" sz="1500" dirty="0"/>
          </a:p>
          <a:p>
            <a:r>
              <a:rPr lang="en-US" sz="1500" dirty="0">
                <a:solidFill>
                  <a:srgbClr val="173B35"/>
                </a:solidFill>
              </a:rPr>
              <a:t>Explores patterns by month and appointment type.</a:t>
            </a:r>
            <a:endParaRPr lang="en-US" sz="1500" dirty="0"/>
          </a:p>
        </p:txBody>
      </p:sp>
      <p:sp>
        <p:nvSpPr>
          <p:cNvPr id="10" name="Shape 8"/>
          <p:cNvSpPr/>
          <p:nvPr/>
        </p:nvSpPr>
        <p:spPr>
          <a:xfrm>
            <a:off x="6446520" y="1417320"/>
            <a:ext cx="4389120" cy="1965960"/>
          </a:xfrm>
          <a:prstGeom prst="roundRect">
            <a:avLst>
              <a:gd name="adj" fmla="val 3721"/>
            </a:avLst>
          </a:prstGeom>
          <a:solidFill>
            <a:srgbClr val="DDF2EA"/>
          </a:solidFill>
          <a:ln w="12700">
            <a:solidFill>
              <a:srgbClr val="DDF2EA"/>
            </a:solidFill>
            <a:prstDash val="solid"/>
          </a:ln>
        </p:spPr>
      </p:sp>
      <p:sp>
        <p:nvSpPr>
          <p:cNvPr id="11" name="Text 9"/>
          <p:cNvSpPr/>
          <p:nvPr/>
        </p:nvSpPr>
        <p:spPr>
          <a:xfrm>
            <a:off x="6812280" y="1783080"/>
            <a:ext cx="3566160" cy="320040"/>
          </a:xfrm>
          <a:prstGeom prst="rect">
            <a:avLst/>
          </a:prstGeom>
          <a:noFill/>
        </p:spPr>
        <p:txBody>
          <a:bodyPr wrap="square" lIns="0" tIns="0" rIns="0" bIns="0" rtlCol="0" anchor="ctr"/>
          <a:lstStyle/>
          <a:p>
            <a:pPr marL="0" indent="0">
              <a:buNone/>
            </a:pPr>
            <a:r>
              <a:rPr lang="en-US" sz="2200" b="1" dirty="0">
                <a:solidFill>
                  <a:srgbClr val="0E6B63"/>
                </a:solidFill>
              </a:rPr>
              <a:t>Key takeaway</a:t>
            </a:r>
            <a:endParaRPr lang="en-US" sz="2200" dirty="0"/>
          </a:p>
        </p:txBody>
      </p:sp>
      <p:sp>
        <p:nvSpPr>
          <p:cNvPr id="12" name="Text 10"/>
          <p:cNvSpPr/>
          <p:nvPr/>
        </p:nvSpPr>
        <p:spPr>
          <a:xfrm>
            <a:off x="6812280" y="2240280"/>
            <a:ext cx="3520440" cy="777240"/>
          </a:xfrm>
          <a:prstGeom prst="rect">
            <a:avLst/>
          </a:prstGeom>
          <a:noFill/>
        </p:spPr>
        <p:txBody>
          <a:bodyPr wrap="square" lIns="0" tIns="0" rIns="0" bIns="0" rtlCol="0" anchor="ctr">
            <a:normAutofit/>
          </a:bodyPr>
          <a:lstStyle/>
          <a:p>
            <a:pPr marL="0" indent="0">
              <a:buNone/>
            </a:pPr>
            <a:r>
              <a:rPr lang="en-US" sz="1900" b="1" dirty="0">
                <a:solidFill>
                  <a:srgbClr val="173B35"/>
                </a:solidFill>
              </a:rPr>
              <a:t>Analytics must be tested, interpreted, communicated clearly, and translated into action.</a:t>
            </a:r>
            <a:endParaRPr lang="en-US" sz="1900" dirty="0"/>
          </a:p>
        </p:txBody>
      </p:sp>
      <p:sp>
        <p:nvSpPr>
          <p:cNvPr id="13" name="Text 11"/>
          <p:cNvSpPr/>
          <p:nvPr/>
        </p:nvSpPr>
        <p:spPr>
          <a:xfrm>
            <a:off x="777240" y="4069080"/>
            <a:ext cx="3383280" cy="320040"/>
          </a:xfrm>
          <a:prstGeom prst="rect">
            <a:avLst/>
          </a:prstGeom>
          <a:noFill/>
        </p:spPr>
        <p:txBody>
          <a:bodyPr wrap="square" lIns="0" tIns="0" rIns="0" bIns="0" rtlCol="0" anchor="ctr"/>
          <a:lstStyle/>
          <a:p>
            <a:pPr marL="0" indent="0">
              <a:buNone/>
            </a:pPr>
            <a:r>
              <a:rPr lang="en-US" sz="2000" b="1" dirty="0">
                <a:solidFill>
                  <a:srgbClr val="173B35"/>
                </a:solidFill>
              </a:rPr>
              <a:t>Future improvements</a:t>
            </a:r>
            <a:endParaRPr lang="en-US" sz="2000" dirty="0"/>
          </a:p>
        </p:txBody>
      </p:sp>
      <p:sp>
        <p:nvSpPr>
          <p:cNvPr id="14" name="Text 12"/>
          <p:cNvSpPr/>
          <p:nvPr/>
        </p:nvSpPr>
        <p:spPr>
          <a:xfrm>
            <a:off x="868680" y="4526280"/>
            <a:ext cx="5303520" cy="960120"/>
          </a:xfrm>
          <a:prstGeom prst="rect">
            <a:avLst/>
          </a:prstGeom>
          <a:noFill/>
        </p:spPr>
        <p:txBody>
          <a:bodyPr wrap="square" lIns="508" tIns="508" rIns="508" bIns="508" rtlCol="0" anchor="ctr">
            <a:normAutofit/>
          </a:bodyPr>
          <a:lstStyle/>
          <a:p>
            <a:r>
              <a:rPr lang="en-US" sz="1350" dirty="0">
                <a:solidFill>
                  <a:srgbClr val="173B35"/>
                </a:solidFill>
              </a:rPr>
              <a:t>Complete cross-track validation with Data Science.</a:t>
            </a:r>
            <a:endParaRPr lang="en-US" sz="1350" dirty="0"/>
          </a:p>
          <a:p>
            <a:r>
              <a:rPr lang="en-US" sz="1350" dirty="0">
                <a:solidFill>
                  <a:srgbClr val="173B35"/>
                </a:solidFill>
              </a:rPr>
              <a:t>Investigate attendance factors more deeply.</a:t>
            </a:r>
            <a:endParaRPr lang="en-US" sz="1350" dirty="0"/>
          </a:p>
          <a:p>
            <a:r>
              <a:rPr lang="en-US" sz="1350" dirty="0">
                <a:solidFill>
                  <a:srgbClr val="173B35"/>
                </a:solidFill>
              </a:rPr>
              <a:t>Compare dashboard patterns with predictive model results.</a:t>
            </a:r>
            <a:endParaRPr lang="en-US" sz="1350" dirty="0"/>
          </a:p>
        </p:txBody>
      </p:sp>
      <p:sp>
        <p:nvSpPr>
          <p:cNvPr id="15" name="Text 13"/>
          <p:cNvSpPr/>
          <p:nvPr/>
        </p:nvSpPr>
        <p:spPr>
          <a:xfrm>
            <a:off x="7406640" y="4663440"/>
            <a:ext cx="2560320" cy="411480"/>
          </a:xfrm>
          <a:prstGeom prst="rect">
            <a:avLst/>
          </a:prstGeom>
          <a:noFill/>
        </p:spPr>
        <p:txBody>
          <a:bodyPr wrap="square" lIns="0" tIns="0" rIns="0" bIns="0" rtlCol="0" anchor="ctr"/>
          <a:lstStyle/>
          <a:p>
            <a:pPr marL="0" indent="0" algn="ctr">
              <a:buNone/>
            </a:pPr>
            <a:r>
              <a:rPr lang="en-US" sz="2800" b="1" dirty="0">
                <a:solidFill>
                  <a:srgbClr val="0E6B63"/>
                </a:solidFill>
              </a:rPr>
              <a:t>Thank you</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3397</Words>
  <Application>WPS Presentation</Application>
  <PresentationFormat>On-screen Show (16:9)</PresentationFormat>
  <Paragraphs>232</Paragraphs>
  <Slides>7</Slides>
  <Notes>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vt:i4>
      </vt:variant>
    </vt:vector>
  </HeadingPairs>
  <TitlesOfParts>
    <vt:vector size="21" baseType="lpstr">
      <vt:lpstr>Arial</vt:lpstr>
      <vt:lpstr>SimSun</vt:lpstr>
      <vt:lpstr>Wingdings</vt:lpstr>
      <vt:lpstr>Aptos</vt:lpstr>
      <vt:lpstr>Segoe UI</vt:lpstr>
      <vt:lpstr>Aptos</vt:lpstr>
      <vt:lpstr>Aptos</vt:lpstr>
      <vt:lpstr>Aptos Display</vt:lpstr>
      <vt:lpstr>Aptos Display</vt:lpstr>
      <vt:lpstr>Aptos Display</vt:lpstr>
      <vt:lpstr>Segoe UI Variable Display</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AnalystLab Africa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HealthConnect Week 8 Video Presentation</dc:title>
  <dc:creator>OpenAI</dc:creator>
  <dc:subject>HealthConnect Week 8 Video Presentation Slides</dc:subject>
  <cp:lastModifiedBy>Hildah</cp:lastModifiedBy>
  <cp:revision>3</cp:revision>
  <dcterms:created xsi:type="dcterms:W3CDTF">2026-09-27T14:21:00Z</dcterms:created>
  <dcterms:modified xsi:type="dcterms:W3CDTF">2026-09-28T19:36:38Z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0D99164055B74654966C1A9390194592_13</vt:lpwstr>
  </property>
</Properties>
</file>